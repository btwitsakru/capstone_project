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60" r:id="rId5"/>
    <p:sldId id="261" r:id="rId6"/>
    <p:sldId id="259" r:id="rId7"/>
    <p:sldId id="262" r:id="rId8"/>
    <p:sldId id="264" r:id="rId9"/>
    <p:sldId id="263" r:id="rId10"/>
    <p:sldId id="275" r:id="rId11"/>
    <p:sldId id="266" r:id="rId12"/>
    <p:sldId id="272" r:id="rId13"/>
    <p:sldId id="274" r:id="rId14"/>
    <p:sldId id="273" r:id="rId15"/>
    <p:sldId id="270" r:id="rId16"/>
    <p:sldId id="271" r:id="rId17"/>
  </p:sldIdLst>
  <p:sldSz cx="12192000" cy="6858000"/>
  <p:notesSz cx="6858000" cy="9144000"/>
  <p:embeddedFontLst>
    <p:embeddedFont>
      <p:font typeface="Fira Sans Extra Condensed Medium" panose="020B0604020202020204" charset="0"/>
      <p:regular r:id="rId19"/>
      <p:bold r:id="rId20"/>
      <p:italic r:id="rId21"/>
      <p:boldItalic r:id="rId22"/>
    </p:embeddedFont>
    <p:embeddedFont>
      <p:font typeface="Montserrat" panose="00000500000000000000" pitchFamily="2" charset="0"/>
      <p:regular r:id="rId23"/>
      <p:bold r:id="rId24"/>
      <p:italic r:id="rId25"/>
      <p:boldItalic r:id="rId26"/>
    </p:embeddedFont>
    <p:embeddedFont>
      <p:font typeface="Montserrat Medium" panose="00000600000000000000" pitchFamily="2" charset="0"/>
      <p:regular r:id="rId27"/>
      <p:bold r:id="rId28"/>
      <p:italic r:id="rId29"/>
      <p:boldItalic r:id="rId30"/>
    </p:embeddedFont>
    <p:embeddedFont>
      <p:font typeface="Roboto" panose="02000000000000000000" pitchFamily="2" charset="0"/>
      <p:regular r:id="rId31"/>
      <p:bold r:id="rId32"/>
      <p:italic r:id="rId33"/>
      <p:boldItalic r:id="rId34"/>
    </p:embeddedFont>
    <p:embeddedFont>
      <p:font typeface="Verdana" panose="020B060403050404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iLIB8hgp8hG/Kfs01xdwOjI48/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8CE8E0E-2C8A-4B5D-890A-D187328A7B21}">
  <a:tblStyle styleId="{A8CE8E0E-2C8A-4B5D-890A-D187328A7B2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font" Target="fonts/font16.fntdata"/><Relationship Id="rId42"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f7b04de720_0_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g2f7b04de720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 name="Google Shape;16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13380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0795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1997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2235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9037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Vertical Title and Text">
  <p:cSld name="1_Vertical Title and Text">
    <p:spTree>
      <p:nvGrpSpPr>
        <p:cNvPr id="1" name="Shape 24"/>
        <p:cNvGrpSpPr/>
        <p:nvPr/>
      </p:nvGrpSpPr>
      <p:grpSpPr>
        <a:xfrm>
          <a:off x="0" y="0"/>
          <a:ext cx="0" cy="0"/>
          <a:chOff x="0" y="0"/>
          <a:chExt cx="0" cy="0"/>
        </a:xfrm>
      </p:grpSpPr>
      <p:sp>
        <p:nvSpPr>
          <p:cNvPr id="25" name="Google Shape;25;p39"/>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39"/>
          <p:cNvSpPr txBox="1">
            <a:spLocks noGrp="1"/>
          </p:cNvSpPr>
          <p:nvPr>
            <p:ph type="body" idx="1"/>
          </p:nvPr>
        </p:nvSpPr>
        <p:spPr>
          <a:xfrm>
            <a:off x="535709" y="832043"/>
            <a:ext cx="11111346" cy="534492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7"/>
        <p:cNvGrpSpPr/>
        <p:nvPr/>
      </p:nvGrpSpPr>
      <p:grpSpPr>
        <a:xfrm>
          <a:off x="0" y="0"/>
          <a:ext cx="0" cy="0"/>
          <a:chOff x="0" y="0"/>
          <a:chExt cx="0" cy="0"/>
        </a:xfrm>
      </p:grpSpPr>
      <p:sp>
        <p:nvSpPr>
          <p:cNvPr id="28" name="Google Shape;28;p41"/>
          <p:cNvSpPr>
            <a:spLocks noGrp="1"/>
          </p:cNvSpPr>
          <p:nvPr>
            <p:ph type="pic" idx="2"/>
          </p:nvPr>
        </p:nvSpPr>
        <p:spPr>
          <a:xfrm>
            <a:off x="1" y="0"/>
            <a:ext cx="12192000" cy="6858000"/>
          </a:xfrm>
          <a:prstGeom prst="rect">
            <a:avLst/>
          </a:prstGeom>
          <a:noFill/>
          <a:ln>
            <a:noFill/>
          </a:ln>
        </p:spPr>
      </p:sp>
      <p:sp>
        <p:nvSpPr>
          <p:cNvPr id="29" name="Google Shape;29;p41"/>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0"/>
        <p:cNvGrpSpPr/>
        <p:nvPr/>
      </p:nvGrpSpPr>
      <p:grpSpPr>
        <a:xfrm>
          <a:off x="0" y="0"/>
          <a:ext cx="0" cy="0"/>
          <a:chOff x="0" y="0"/>
          <a:chExt cx="0" cy="0"/>
        </a:xfrm>
      </p:grpSpPr>
      <p:sp>
        <p:nvSpPr>
          <p:cNvPr id="31" name="Google Shape;31;p6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2" name="Google Shape;32;p6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3" name="Google Shape;33;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5"/>
          <p:cNvSpPr txBox="1">
            <a:spLocks noGrp="1"/>
          </p:cNvSpPr>
          <p:nvPr>
            <p:ph type="sldNum" idx="12"/>
          </p:nvPr>
        </p:nvSpPr>
        <p:spPr>
          <a:xfrm>
            <a:off x="9448800" y="651308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6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8" name="Google Shape;38;p6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7"/>
          <p:cNvSpPr txBox="1">
            <a:spLocks noGrp="1"/>
          </p:cNvSpPr>
          <p:nvPr>
            <p:ph type="sldNum" idx="12"/>
          </p:nvPr>
        </p:nvSpPr>
        <p:spPr>
          <a:xfrm>
            <a:off x="9448800" y="648537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p6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8"/>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6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 name="Google Shape;51;p6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6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6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6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69"/>
          <p:cNvSpPr txBox="1">
            <a:spLocks noGrp="1"/>
          </p:cNvSpPr>
          <p:nvPr>
            <p:ph type="sldNum" idx="12"/>
          </p:nvPr>
        </p:nvSpPr>
        <p:spPr>
          <a:xfrm>
            <a:off x="9448800" y="648537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0" name="Google Shape;60;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70"/>
          <p:cNvSpPr txBox="1">
            <a:spLocks noGrp="1"/>
          </p:cNvSpPr>
          <p:nvPr>
            <p:ph type="sldNum" idx="12"/>
          </p:nvPr>
        </p:nvSpPr>
        <p:spPr>
          <a:xfrm>
            <a:off x="9448800" y="645766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7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5" name="Google Shape;65;p7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6" name="Google Shape;66;p7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7" name="Google Shape;67;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72"/>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7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2" name="Google Shape;72;p73"/>
          <p:cNvSpPr>
            <a:spLocks noGrp="1"/>
          </p:cNvSpPr>
          <p:nvPr>
            <p:ph type="pic" idx="2"/>
          </p:nvPr>
        </p:nvSpPr>
        <p:spPr>
          <a:xfrm>
            <a:off x="5183188" y="987425"/>
            <a:ext cx="6172200" cy="4873625"/>
          </a:xfrm>
          <a:prstGeom prst="rect">
            <a:avLst/>
          </a:prstGeom>
          <a:noFill/>
          <a:ln>
            <a:noFill/>
          </a:ln>
        </p:spPr>
      </p:sp>
      <p:sp>
        <p:nvSpPr>
          <p:cNvPr id="73" name="Google Shape;73;p7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73"/>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9" name="Google Shape;79;p7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74"/>
          <p:cNvSpPr txBox="1">
            <a:spLocks noGrp="1"/>
          </p:cNvSpPr>
          <p:nvPr>
            <p:ph type="sldNum" idx="12"/>
          </p:nvPr>
        </p:nvSpPr>
        <p:spPr>
          <a:xfrm>
            <a:off x="9448800" y="6476134"/>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7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5" name="Google Shape;85;p7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75"/>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body" idx="1"/>
          </p:nvPr>
        </p:nvSpPr>
        <p:spPr>
          <a:xfrm>
            <a:off x="535709" y="832043"/>
            <a:ext cx="11111346" cy="534492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 name="Google Shape;11;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8"/>
          <p:cNvSpPr txBox="1">
            <a:spLocks noGrp="1"/>
          </p:cNvSpPr>
          <p:nvPr>
            <p:ph type="sldNum" idx="12"/>
          </p:nvPr>
        </p:nvSpPr>
        <p:spPr>
          <a:xfrm>
            <a:off x="9349510" y="6457661"/>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38"/>
          <p:cNvPicPr preferRelativeResize="0"/>
          <p:nvPr/>
        </p:nvPicPr>
        <p:blipFill rotWithShape="1">
          <a:blip r:embed="rId13">
            <a:alphaModFix/>
          </a:blip>
          <a:srcRect l="22326" t="32664" r="11835" b="35100"/>
          <a:stretch/>
        </p:blipFill>
        <p:spPr>
          <a:xfrm>
            <a:off x="262467" y="258234"/>
            <a:ext cx="1504951" cy="423333"/>
          </a:xfrm>
          <a:prstGeom prst="rect">
            <a:avLst/>
          </a:prstGeom>
          <a:noFill/>
          <a:ln>
            <a:noFill/>
          </a:ln>
        </p:spPr>
      </p:pic>
      <p:grpSp>
        <p:nvGrpSpPr>
          <p:cNvPr id="15" name="Google Shape;15;p38"/>
          <p:cNvGrpSpPr/>
          <p:nvPr/>
        </p:nvGrpSpPr>
        <p:grpSpPr>
          <a:xfrm>
            <a:off x="11856720" y="140636"/>
            <a:ext cx="223520" cy="990718"/>
            <a:chOff x="11856720" y="140636"/>
            <a:chExt cx="223520" cy="990718"/>
          </a:xfrm>
        </p:grpSpPr>
        <p:grpSp>
          <p:nvGrpSpPr>
            <p:cNvPr id="16" name="Google Shape;16;p38"/>
            <p:cNvGrpSpPr/>
            <p:nvPr/>
          </p:nvGrpSpPr>
          <p:grpSpPr>
            <a:xfrm>
              <a:off x="11856720" y="660278"/>
              <a:ext cx="223520" cy="471076"/>
              <a:chOff x="9734551" y="3138055"/>
              <a:chExt cx="2457449" cy="1328450"/>
            </a:xfrm>
          </p:grpSpPr>
          <p:sp>
            <p:nvSpPr>
              <p:cNvPr id="17" name="Google Shape;17;p38"/>
              <p:cNvSpPr/>
              <p:nvPr/>
            </p:nvSpPr>
            <p:spPr>
              <a:xfrm>
                <a:off x="9759949" y="3870759"/>
                <a:ext cx="2432051" cy="595746"/>
              </a:xfrm>
              <a:prstGeom prst="rect">
                <a:avLst/>
              </a:prstGeom>
              <a:solidFill>
                <a:srgbClr val="E12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8" name="Google Shape;18;p38"/>
              <p:cNvSpPr/>
              <p:nvPr/>
            </p:nvSpPr>
            <p:spPr>
              <a:xfrm>
                <a:off x="9734551" y="3138055"/>
                <a:ext cx="2457449" cy="595746"/>
              </a:xfrm>
              <a:prstGeom prst="rect">
                <a:avLst/>
              </a:prstGeom>
              <a:solidFill>
                <a:srgbClr val="51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nvGrpSpPr>
            <p:cNvPr id="19" name="Google Shape;19;p38"/>
            <p:cNvGrpSpPr/>
            <p:nvPr/>
          </p:nvGrpSpPr>
          <p:grpSpPr>
            <a:xfrm>
              <a:off x="11856720" y="140636"/>
              <a:ext cx="223520" cy="471076"/>
              <a:chOff x="9734551" y="3138055"/>
              <a:chExt cx="2457449" cy="1328450"/>
            </a:xfrm>
          </p:grpSpPr>
          <p:sp>
            <p:nvSpPr>
              <p:cNvPr id="20" name="Google Shape;20;p38"/>
              <p:cNvSpPr/>
              <p:nvPr/>
            </p:nvSpPr>
            <p:spPr>
              <a:xfrm>
                <a:off x="9759949" y="3870759"/>
                <a:ext cx="2432051" cy="595746"/>
              </a:xfrm>
              <a:prstGeom prst="rect">
                <a:avLst/>
              </a:prstGeom>
              <a:solidFill>
                <a:srgbClr val="F7A5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21" name="Google Shape;21;p38"/>
              <p:cNvSpPr/>
              <p:nvPr/>
            </p:nvSpPr>
            <p:spPr>
              <a:xfrm>
                <a:off x="9734551" y="3138055"/>
                <a:ext cx="2457449" cy="595746"/>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pic>
        <p:nvPicPr>
          <p:cNvPr id="22" name="Google Shape;22;p38" descr="A logo with text overlay&#10;&#10;Description automatically generated"/>
          <p:cNvPicPr preferRelativeResize="0"/>
          <p:nvPr/>
        </p:nvPicPr>
        <p:blipFill rotWithShape="1">
          <a:blip r:embed="rId14">
            <a:alphaModFix/>
          </a:blip>
          <a:srcRect l="37906" t="34096" r="9605" b="36394"/>
          <a:stretch/>
        </p:blipFill>
        <p:spPr>
          <a:xfrm>
            <a:off x="11125200" y="11945"/>
            <a:ext cx="1066800" cy="599768"/>
          </a:xfrm>
          <a:prstGeom prst="rect">
            <a:avLst/>
          </a:prstGeom>
          <a:noFill/>
          <a:ln>
            <a:noFill/>
          </a:ln>
        </p:spPr>
      </p:pic>
      <p:sp>
        <p:nvSpPr>
          <p:cNvPr id="23" name="Google Shape;23;p38"/>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https://ieeexplore.ieee.org/author/37085840223" TargetMode="External"/><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https://ieeexplore.ieee.org/author/37089324863" TargetMode="External"/><Relationship Id="rId4" Type="http://schemas.openxmlformats.org/officeDocument/2006/relationships/hyperlink" Target="https://ieeexplore.ieee.org/author/37086196645"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p1"/>
          <p:cNvPicPr preferRelativeResize="0"/>
          <p:nvPr/>
        </p:nvPicPr>
        <p:blipFill rotWithShape="1">
          <a:blip r:embed="rId3">
            <a:alphaModFix amt="20000"/>
          </a:blip>
          <a:srcRect l="1514" r="2310" b="19493"/>
          <a:stretch/>
        </p:blipFill>
        <p:spPr>
          <a:xfrm>
            <a:off x="-1235" y="46737"/>
            <a:ext cx="12272787" cy="6858000"/>
          </a:xfrm>
          <a:prstGeom prst="rect">
            <a:avLst/>
          </a:prstGeom>
          <a:noFill/>
          <a:ln>
            <a:noFill/>
          </a:ln>
        </p:spPr>
      </p:pic>
      <p:sp>
        <p:nvSpPr>
          <p:cNvPr id="94" name="Google Shape;94;p1"/>
          <p:cNvSpPr txBox="1"/>
          <p:nvPr/>
        </p:nvSpPr>
        <p:spPr>
          <a:xfrm>
            <a:off x="2904067" y="3139018"/>
            <a:ext cx="6383867"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8C212C"/>
                </a:solidFill>
                <a:latin typeface="Arial"/>
                <a:ea typeface="Arial"/>
                <a:cs typeface="Arial"/>
                <a:sym typeface="Arial"/>
              </a:rPr>
              <a:t>GITAM UNIVERSITY</a:t>
            </a:r>
            <a:endParaRPr sz="1400" b="0" i="0" u="none" strike="noStrike" cap="none">
              <a:solidFill>
                <a:srgbClr val="000000"/>
              </a:solidFill>
              <a:latin typeface="Arial"/>
              <a:ea typeface="Arial"/>
              <a:cs typeface="Arial"/>
              <a:sym typeface="Arial"/>
            </a:endParaRPr>
          </a:p>
        </p:txBody>
      </p:sp>
      <p:grpSp>
        <p:nvGrpSpPr>
          <p:cNvPr id="95" name="Google Shape;95;p1"/>
          <p:cNvGrpSpPr/>
          <p:nvPr/>
        </p:nvGrpSpPr>
        <p:grpSpPr>
          <a:xfrm>
            <a:off x="0" y="3139018"/>
            <a:ext cx="12192000" cy="594783"/>
            <a:chOff x="0" y="3138055"/>
            <a:chExt cx="12192000" cy="595746"/>
          </a:xfrm>
        </p:grpSpPr>
        <p:sp>
          <p:nvSpPr>
            <p:cNvPr id="96" name="Google Shape;96;p1"/>
            <p:cNvSpPr/>
            <p:nvPr/>
          </p:nvSpPr>
          <p:spPr>
            <a:xfrm>
              <a:off x="0" y="3138055"/>
              <a:ext cx="2432051" cy="595746"/>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r>
                <a:rPr lang="en-US" sz="1351" b="0" i="0" u="none" strike="noStrike" cap="none">
                  <a:solidFill>
                    <a:schemeClr val="lt1"/>
                  </a:solidFill>
                  <a:latin typeface="Calibri"/>
                  <a:ea typeface="Calibri"/>
                  <a:cs typeface="Calibri"/>
                  <a:sym typeface="Calibri"/>
                </a:rPr>
                <a:t>AY 2020-24</a:t>
              </a:r>
              <a:endParaRPr sz="1351" b="0" i="0" u="none" strike="noStrike" cap="none">
                <a:solidFill>
                  <a:schemeClr val="lt1"/>
                </a:solidFill>
                <a:latin typeface="Calibri"/>
                <a:ea typeface="Calibri"/>
                <a:cs typeface="Calibri"/>
                <a:sym typeface="Calibri"/>
              </a:endParaRPr>
            </a:p>
          </p:txBody>
        </p:sp>
        <p:sp>
          <p:nvSpPr>
            <p:cNvPr id="97" name="Google Shape;97;p1"/>
            <p:cNvSpPr/>
            <p:nvPr/>
          </p:nvSpPr>
          <p:spPr>
            <a:xfrm>
              <a:off x="9734551" y="3138055"/>
              <a:ext cx="2457449" cy="595746"/>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r>
                <a:rPr lang="en-US" sz="1351" b="0" i="0" u="none" strike="noStrike" cap="none" dirty="0">
                  <a:solidFill>
                    <a:schemeClr val="lt1"/>
                  </a:solidFill>
                  <a:latin typeface="Calibri"/>
                  <a:ea typeface="Calibri"/>
                  <a:cs typeface="Calibri"/>
                  <a:sym typeface="Calibri"/>
                </a:rPr>
                <a:t>Major Project</a:t>
              </a:r>
              <a:endParaRPr dirty="0"/>
            </a:p>
          </p:txBody>
        </p:sp>
      </p:grpSp>
      <p:sp>
        <p:nvSpPr>
          <p:cNvPr id="98" name="Google Shape;98;p1"/>
          <p:cNvSpPr/>
          <p:nvPr/>
        </p:nvSpPr>
        <p:spPr>
          <a:xfrm>
            <a:off x="3060700" y="3797300"/>
            <a:ext cx="609600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7F7F7F"/>
                </a:solidFill>
                <a:latin typeface="Montserrat Medium"/>
                <a:ea typeface="Montserrat Medium"/>
                <a:cs typeface="Montserrat Medium"/>
                <a:sym typeface="Montserrat Medium"/>
              </a:rPr>
              <a:t>A University should be a place of light, of liberty, and of learning.</a:t>
            </a:r>
            <a:endParaRPr sz="1400" b="0" i="0" u="none" strike="noStrike" cap="none">
              <a:solidFill>
                <a:srgbClr val="000000"/>
              </a:solidFill>
              <a:latin typeface="Arial"/>
              <a:ea typeface="Arial"/>
              <a:cs typeface="Arial"/>
              <a:sym typeface="Arial"/>
            </a:endParaRPr>
          </a:p>
        </p:txBody>
      </p:sp>
      <p:sp>
        <p:nvSpPr>
          <p:cNvPr id="99" name="Google Shape;99;p1"/>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7F7F7F"/>
                </a:solidFill>
                <a:latin typeface="Montserrat Medium"/>
                <a:ea typeface="Montserrat Medium"/>
                <a:cs typeface="Montserrat Medium"/>
                <a:sym typeface="Montserrat Medium"/>
              </a:rPr>
              <a:t>www.gitamedu.com</a:t>
            </a:r>
            <a:endParaRPr sz="1200" b="0" i="0" u="none" strike="noStrike" cap="none">
              <a:solidFill>
                <a:srgbClr val="7F7F7F"/>
              </a:solidFill>
              <a:latin typeface="Montserrat Medium"/>
              <a:ea typeface="Montserrat Medium"/>
              <a:cs typeface="Montserrat Medium"/>
              <a:sym typeface="Montserrat Medium"/>
            </a:endParaRPr>
          </a:p>
        </p:txBody>
      </p:sp>
      <p:grpSp>
        <p:nvGrpSpPr>
          <p:cNvPr id="100" name="Google Shape;100;p1"/>
          <p:cNvGrpSpPr/>
          <p:nvPr/>
        </p:nvGrpSpPr>
        <p:grpSpPr>
          <a:xfrm rot="2700000">
            <a:off x="5984712" y="5183993"/>
            <a:ext cx="231043" cy="225933"/>
            <a:chOff x="11087593" y="13905"/>
            <a:chExt cx="1085533" cy="1061509"/>
          </a:xfrm>
        </p:grpSpPr>
        <p:sp>
          <p:nvSpPr>
            <p:cNvPr id="101" name="Google Shape;101;p1"/>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02" name="Google Shape;102;p1"/>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pic>
        <p:nvPicPr>
          <p:cNvPr id="103" name="Google Shape;103;p1"/>
          <p:cNvPicPr preferRelativeResize="0"/>
          <p:nvPr/>
        </p:nvPicPr>
        <p:blipFill rotWithShape="1">
          <a:blip r:embed="rId4">
            <a:alphaModFix/>
          </a:blip>
          <a:srcRect l="22328" t="32664" r="61002" b="35100"/>
          <a:stretch/>
        </p:blipFill>
        <p:spPr>
          <a:xfrm>
            <a:off x="5367867" y="1325034"/>
            <a:ext cx="1534584" cy="1699684"/>
          </a:xfrm>
          <a:prstGeom prst="rect">
            <a:avLst/>
          </a:prstGeom>
          <a:noFill/>
          <a:ln>
            <a:noFill/>
          </a:ln>
        </p:spPr>
      </p:pic>
      <p:sp>
        <p:nvSpPr>
          <p:cNvPr id="104" name="Google Shape;104;p1"/>
          <p:cNvSpPr/>
          <p:nvPr/>
        </p:nvSpPr>
        <p:spPr>
          <a:xfrm>
            <a:off x="2904067" y="4430594"/>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a:solidFill>
                <a:schemeClr val="dk1"/>
              </a:solidFill>
              <a:latin typeface="Arial"/>
              <a:ea typeface="Arial"/>
              <a:cs typeface="Arial"/>
              <a:sym typeface="Arial"/>
            </a:endParaRPr>
          </a:p>
        </p:txBody>
      </p:sp>
      <p:sp>
        <p:nvSpPr>
          <p:cNvPr id="105" name="Google Shape;105;p1"/>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06" name="Google Shape;106;p1"/>
          <p:cNvSpPr/>
          <p:nvPr/>
        </p:nvSpPr>
        <p:spPr>
          <a:xfrm>
            <a:off x="3467801" y="432075"/>
            <a:ext cx="5220000" cy="5949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dirty="0">
                <a:solidFill>
                  <a:schemeClr val="dk1"/>
                </a:solidFill>
                <a:latin typeface="Montserrat"/>
                <a:ea typeface="Montserrat"/>
                <a:cs typeface="Montserrat"/>
                <a:sym typeface="Montserrat"/>
              </a:rPr>
              <a:t>MULTIBAND REFLECTIVE POLARIZATION CONVERTER USING METASURFACE</a:t>
            </a:r>
            <a:endParaRPr sz="1800" b="1" i="0" u="none" strike="noStrike" cap="none" dirty="0">
              <a:solidFill>
                <a:schemeClr val="dk1"/>
              </a:solidFill>
              <a:latin typeface="Montserrat"/>
              <a:ea typeface="Montserrat"/>
              <a:cs typeface="Montserrat"/>
              <a:sym typeface="Montserrat"/>
            </a:endParaRPr>
          </a:p>
        </p:txBody>
      </p:sp>
      <p:sp>
        <p:nvSpPr>
          <p:cNvPr id="107" name="Google Shape;107;p1"/>
          <p:cNvSpPr/>
          <p:nvPr/>
        </p:nvSpPr>
        <p:spPr>
          <a:xfrm>
            <a:off x="66260" y="5253329"/>
            <a:ext cx="2926946" cy="13849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Montserrat Medium"/>
                <a:ea typeface="Montserrat Medium"/>
                <a:cs typeface="Montserrat Medium"/>
                <a:sym typeface="Montserrat Medium"/>
              </a:rPr>
              <a:t>Project Team: </a:t>
            </a:r>
            <a:endParaRPr b="1">
              <a:solidFill>
                <a:schemeClr val="dk1"/>
              </a:solidFill>
              <a:latin typeface="Montserrat Medium"/>
              <a:ea typeface="Montserrat Medium"/>
              <a:cs typeface="Montserrat Medium"/>
              <a:sym typeface="Montserrat Medium"/>
            </a:endParaRPr>
          </a:p>
          <a:p>
            <a:pPr marL="0" marR="0" lvl="0" indent="0" algn="l" rtl="0">
              <a:lnSpc>
                <a:spcPct val="100000"/>
              </a:lnSpc>
              <a:spcBef>
                <a:spcPts val="0"/>
              </a:spcBef>
              <a:spcAft>
                <a:spcPts val="0"/>
              </a:spcAft>
              <a:buClr>
                <a:srgbClr val="000000"/>
              </a:buClr>
              <a:buSzPts val="1400"/>
              <a:buFont typeface="Arial"/>
              <a:buNone/>
            </a:pPr>
            <a:endParaRPr b="1">
              <a:solidFill>
                <a:schemeClr val="dk1"/>
              </a:solidFill>
              <a:latin typeface="Montserrat Medium"/>
              <a:ea typeface="Montserrat Medium"/>
              <a:cs typeface="Montserrat Medium"/>
              <a:sym typeface="Montserrat Medium"/>
            </a:endParaRPr>
          </a:p>
          <a:p>
            <a:pPr marL="285750" marR="0" lvl="0" indent="-285750" algn="l" rtl="0">
              <a:lnSpc>
                <a:spcPct val="100000"/>
              </a:lnSpc>
              <a:spcBef>
                <a:spcPts val="0"/>
              </a:spcBef>
              <a:spcAft>
                <a:spcPts val="0"/>
              </a:spcAft>
              <a:buClr>
                <a:srgbClr val="000000"/>
              </a:buClr>
              <a:buSzPts val="1400"/>
              <a:buFont typeface="Arial"/>
              <a:buChar char="•"/>
            </a:pPr>
            <a:r>
              <a:rPr lang="en-US" b="1">
                <a:solidFill>
                  <a:schemeClr val="dk1"/>
                </a:solidFill>
                <a:latin typeface="Montserrat Medium"/>
                <a:ea typeface="Montserrat Medium"/>
                <a:cs typeface="Montserrat Medium"/>
                <a:sym typeface="Montserrat Medium"/>
              </a:rPr>
              <a:t>R S S S Snigdha</a:t>
            </a:r>
            <a:endParaRPr/>
          </a:p>
          <a:p>
            <a:pPr marL="285750" marR="0" lvl="0" indent="-285750" algn="l" rtl="0">
              <a:lnSpc>
                <a:spcPct val="100000"/>
              </a:lnSpc>
              <a:spcBef>
                <a:spcPts val="0"/>
              </a:spcBef>
              <a:spcAft>
                <a:spcPts val="0"/>
              </a:spcAft>
              <a:buClr>
                <a:srgbClr val="000000"/>
              </a:buClr>
              <a:buSzPts val="1400"/>
              <a:buFont typeface="Arial"/>
              <a:buChar char="•"/>
            </a:pPr>
            <a:r>
              <a:rPr lang="en-US" b="1">
                <a:solidFill>
                  <a:schemeClr val="dk1"/>
                </a:solidFill>
                <a:latin typeface="Montserrat Medium"/>
                <a:ea typeface="Montserrat Medium"/>
                <a:cs typeface="Montserrat Medium"/>
                <a:sym typeface="Montserrat Medium"/>
              </a:rPr>
              <a:t>K S P Mahadev</a:t>
            </a:r>
            <a:endParaRPr sz="1400" b="1"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US" b="1">
                <a:solidFill>
                  <a:schemeClr val="dk1"/>
                </a:solidFill>
                <a:latin typeface="Montserrat Medium"/>
                <a:ea typeface="Montserrat Medium"/>
                <a:cs typeface="Montserrat Medium"/>
                <a:sym typeface="Montserrat Medium"/>
              </a:rPr>
              <a:t>MD Akram</a:t>
            </a:r>
            <a:endParaRPr sz="1400" b="1" i="0" u="none" strike="noStrike" cap="none">
              <a:solidFill>
                <a:schemeClr val="dk1"/>
              </a:solidFill>
              <a:latin typeface="Montserrat Medium"/>
              <a:ea typeface="Montserrat Medium"/>
              <a:cs typeface="Montserrat Medium"/>
              <a:sym typeface="Montserrat Medium"/>
            </a:endParaRPr>
          </a:p>
          <a:p>
            <a:pPr marL="457200" marR="0" lvl="0" indent="0" algn="l" rtl="0">
              <a:lnSpc>
                <a:spcPct val="100000"/>
              </a:lnSpc>
              <a:spcBef>
                <a:spcPts val="0"/>
              </a:spcBef>
              <a:spcAft>
                <a:spcPts val="0"/>
              </a:spcAft>
              <a:buNone/>
            </a:pPr>
            <a:endParaRPr sz="1400" b="1" i="0" u="none" strike="noStrike" cap="none">
              <a:solidFill>
                <a:schemeClr val="dk1"/>
              </a:solidFill>
              <a:latin typeface="Arial"/>
              <a:ea typeface="Arial"/>
              <a:cs typeface="Arial"/>
              <a:sym typeface="Arial"/>
            </a:endParaRPr>
          </a:p>
        </p:txBody>
      </p:sp>
      <p:sp>
        <p:nvSpPr>
          <p:cNvPr id="108" name="Google Shape;108;p1"/>
          <p:cNvSpPr/>
          <p:nvPr/>
        </p:nvSpPr>
        <p:spPr>
          <a:xfrm>
            <a:off x="9221202" y="5295901"/>
            <a:ext cx="2926800" cy="738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Montserrat Medium"/>
                <a:ea typeface="Montserrat Medium"/>
                <a:cs typeface="Montserrat Medium"/>
                <a:sym typeface="Montserrat Medium"/>
              </a:rPr>
              <a:t>Project Mentor: </a:t>
            </a:r>
            <a:endParaRPr/>
          </a:p>
          <a:p>
            <a:pPr marL="285750" marR="0" lvl="0" indent="-285750" algn="ctr" rtl="0">
              <a:lnSpc>
                <a:spcPct val="100000"/>
              </a:lnSpc>
              <a:spcBef>
                <a:spcPts val="0"/>
              </a:spcBef>
              <a:spcAft>
                <a:spcPts val="0"/>
              </a:spcAft>
              <a:buClr>
                <a:srgbClr val="000000"/>
              </a:buClr>
              <a:buSzPts val="1400"/>
              <a:buChar char="•"/>
            </a:pPr>
            <a:r>
              <a:rPr lang="en-US" b="1">
                <a:solidFill>
                  <a:schemeClr val="dk1"/>
                </a:solidFill>
              </a:rPr>
              <a:t>Dr. S Durga  Padmaja Bikkuri </a:t>
            </a:r>
            <a:endParaRPr b="1" i="0" u="none" strike="noStrike" cap="none">
              <a:solidFill>
                <a:schemeClr val="dk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76"/>
          <p:cNvPicPr preferRelativeResize="0"/>
          <p:nvPr/>
        </p:nvPicPr>
        <p:blipFill rotWithShape="1">
          <a:blip r:embed="rId3">
            <a:alphaModFix/>
          </a:blip>
          <a:srcRect l="22326" t="32664" r="11835" b="35100"/>
          <a:stretch/>
        </p:blipFill>
        <p:spPr>
          <a:xfrm>
            <a:off x="262467" y="258234"/>
            <a:ext cx="1504951" cy="423333"/>
          </a:xfrm>
          <a:prstGeom prst="rect">
            <a:avLst/>
          </a:prstGeom>
          <a:noFill/>
          <a:ln>
            <a:noFill/>
          </a:ln>
        </p:spPr>
      </p:pic>
      <p:grpSp>
        <p:nvGrpSpPr>
          <p:cNvPr id="114" name="Google Shape;114;p76"/>
          <p:cNvGrpSpPr/>
          <p:nvPr/>
        </p:nvGrpSpPr>
        <p:grpSpPr>
          <a:xfrm>
            <a:off x="11856720" y="140636"/>
            <a:ext cx="223520" cy="990718"/>
            <a:chOff x="11856720" y="140636"/>
            <a:chExt cx="223520" cy="990718"/>
          </a:xfrm>
        </p:grpSpPr>
        <p:grpSp>
          <p:nvGrpSpPr>
            <p:cNvPr id="115" name="Google Shape;115;p76"/>
            <p:cNvGrpSpPr/>
            <p:nvPr/>
          </p:nvGrpSpPr>
          <p:grpSpPr>
            <a:xfrm>
              <a:off x="11856720" y="660278"/>
              <a:ext cx="223520" cy="471076"/>
              <a:chOff x="9734551" y="3138055"/>
              <a:chExt cx="2457449" cy="1328450"/>
            </a:xfrm>
          </p:grpSpPr>
          <p:sp>
            <p:nvSpPr>
              <p:cNvPr id="116" name="Google Shape;116;p76"/>
              <p:cNvSpPr/>
              <p:nvPr/>
            </p:nvSpPr>
            <p:spPr>
              <a:xfrm>
                <a:off x="9759949" y="3870759"/>
                <a:ext cx="2432051" cy="595746"/>
              </a:xfrm>
              <a:prstGeom prst="rect">
                <a:avLst/>
              </a:prstGeom>
              <a:solidFill>
                <a:srgbClr val="E12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17" name="Google Shape;117;p76"/>
              <p:cNvSpPr/>
              <p:nvPr/>
            </p:nvSpPr>
            <p:spPr>
              <a:xfrm>
                <a:off x="9734551" y="3138055"/>
                <a:ext cx="2457449" cy="595746"/>
              </a:xfrm>
              <a:prstGeom prst="rect">
                <a:avLst/>
              </a:prstGeom>
              <a:solidFill>
                <a:srgbClr val="51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nvGrpSpPr>
            <p:cNvPr id="118" name="Google Shape;118;p76"/>
            <p:cNvGrpSpPr/>
            <p:nvPr/>
          </p:nvGrpSpPr>
          <p:grpSpPr>
            <a:xfrm>
              <a:off x="11856720" y="140636"/>
              <a:ext cx="223520" cy="471076"/>
              <a:chOff x="9734551" y="3138055"/>
              <a:chExt cx="2457449" cy="1328450"/>
            </a:xfrm>
          </p:grpSpPr>
          <p:sp>
            <p:nvSpPr>
              <p:cNvPr id="119" name="Google Shape;119;p76"/>
              <p:cNvSpPr/>
              <p:nvPr/>
            </p:nvSpPr>
            <p:spPr>
              <a:xfrm>
                <a:off x="9759949" y="3870759"/>
                <a:ext cx="2432051" cy="595746"/>
              </a:xfrm>
              <a:prstGeom prst="rect">
                <a:avLst/>
              </a:prstGeom>
              <a:solidFill>
                <a:srgbClr val="F7A5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20" name="Google Shape;120;p76"/>
              <p:cNvSpPr/>
              <p:nvPr/>
            </p:nvSpPr>
            <p:spPr>
              <a:xfrm>
                <a:off x="9734551" y="3138055"/>
                <a:ext cx="2457449" cy="595746"/>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pic>
        <p:nvPicPr>
          <p:cNvPr id="121" name="Google Shape;121;p76" descr="A logo with text overlay&#10;&#10;Description automatically generated"/>
          <p:cNvPicPr preferRelativeResize="0"/>
          <p:nvPr/>
        </p:nvPicPr>
        <p:blipFill rotWithShape="1">
          <a:blip r:embed="rId4">
            <a:alphaModFix/>
          </a:blip>
          <a:srcRect l="37906" t="34096" r="9605" b="36394"/>
          <a:stretch/>
        </p:blipFill>
        <p:spPr>
          <a:xfrm>
            <a:off x="11125200" y="11945"/>
            <a:ext cx="1066800" cy="599768"/>
          </a:xfrm>
          <a:prstGeom prst="rect">
            <a:avLst/>
          </a:prstGeom>
          <a:noFill/>
          <a:ln>
            <a:noFill/>
          </a:ln>
        </p:spPr>
      </p:pic>
      <p:sp>
        <p:nvSpPr>
          <p:cNvPr id="122" name="Google Shape;122;p76"/>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Montserrat"/>
                <a:ea typeface="Montserrat"/>
                <a:cs typeface="Montserrat"/>
                <a:sym typeface="Montserrat"/>
              </a:rPr>
              <a:t>Project Group – Details</a:t>
            </a:r>
            <a:endParaRPr sz="1400" b="0" i="0" u="none" strike="noStrike" cap="none">
              <a:solidFill>
                <a:srgbClr val="000000"/>
              </a:solidFill>
              <a:latin typeface="Arial"/>
              <a:ea typeface="Arial"/>
              <a:cs typeface="Arial"/>
              <a:sym typeface="Arial"/>
            </a:endParaRPr>
          </a:p>
        </p:txBody>
      </p:sp>
      <p:grpSp>
        <p:nvGrpSpPr>
          <p:cNvPr id="123" name="Google Shape;123;p76"/>
          <p:cNvGrpSpPr/>
          <p:nvPr/>
        </p:nvGrpSpPr>
        <p:grpSpPr>
          <a:xfrm>
            <a:off x="398206" y="914814"/>
            <a:ext cx="11345969" cy="305674"/>
            <a:chOff x="398206" y="762414"/>
            <a:chExt cx="11345969" cy="305674"/>
          </a:xfrm>
        </p:grpSpPr>
        <p:sp>
          <p:nvSpPr>
            <p:cNvPr id="124" name="Google Shape;124;p76"/>
            <p:cNvSpPr/>
            <p:nvPr/>
          </p:nvSpPr>
          <p:spPr>
            <a:xfrm>
              <a:off x="398206" y="765905"/>
              <a:ext cx="2114400" cy="302100"/>
            </a:xfrm>
            <a:prstGeom prst="roundRect">
              <a:avLst>
                <a:gd name="adj" fmla="val 16667"/>
              </a:avLst>
            </a:prstGeom>
            <a:solidFill>
              <a:srgbClr val="171616"/>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a:solidFill>
                    <a:schemeClr val="lt1"/>
                  </a:solidFill>
                  <a:latin typeface="Verdana"/>
                  <a:ea typeface="Verdana"/>
                  <a:cs typeface="Verdana"/>
                  <a:sym typeface="Verdana"/>
                </a:rPr>
                <a:t>Photo </a:t>
              </a:r>
              <a:endParaRPr sz="1000" b="1" i="0" u="none" strike="noStrike" cap="none">
                <a:solidFill>
                  <a:srgbClr val="000000"/>
                </a:solidFill>
                <a:latin typeface="Arial"/>
                <a:ea typeface="Arial"/>
                <a:cs typeface="Arial"/>
                <a:sym typeface="Arial"/>
              </a:endParaRPr>
            </a:p>
          </p:txBody>
        </p:sp>
        <p:sp>
          <p:nvSpPr>
            <p:cNvPr id="125" name="Google Shape;125;p76"/>
            <p:cNvSpPr/>
            <p:nvPr/>
          </p:nvSpPr>
          <p:spPr>
            <a:xfrm>
              <a:off x="2759165" y="762415"/>
              <a:ext cx="1871829" cy="295979"/>
            </a:xfrm>
            <a:prstGeom prst="roundRect">
              <a:avLst>
                <a:gd name="adj" fmla="val 16667"/>
              </a:avLst>
            </a:prstGeom>
            <a:solidFill>
              <a:srgbClr val="171616"/>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Track</a:t>
              </a:r>
              <a:endParaRPr sz="1000" b="1" i="0" u="none" strike="noStrike" cap="none" dirty="0">
                <a:solidFill>
                  <a:srgbClr val="000000"/>
                </a:solidFill>
                <a:latin typeface="Arial"/>
                <a:ea typeface="Arial"/>
                <a:cs typeface="Arial"/>
                <a:sym typeface="Arial"/>
              </a:endParaRPr>
            </a:p>
          </p:txBody>
        </p:sp>
        <p:sp>
          <p:nvSpPr>
            <p:cNvPr id="126" name="Google Shape;126;p76"/>
            <p:cNvSpPr/>
            <p:nvPr/>
          </p:nvSpPr>
          <p:spPr>
            <a:xfrm>
              <a:off x="4799359" y="772109"/>
              <a:ext cx="2004564" cy="295979"/>
            </a:xfrm>
            <a:prstGeom prst="roundRect">
              <a:avLst>
                <a:gd name="adj" fmla="val 16667"/>
              </a:avLst>
            </a:prstGeom>
            <a:solidFill>
              <a:srgbClr val="171616"/>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a:solidFill>
                    <a:schemeClr val="lt1"/>
                  </a:solidFill>
                  <a:latin typeface="Verdana"/>
                  <a:ea typeface="Verdana"/>
                  <a:cs typeface="Verdana"/>
                  <a:sym typeface="Verdana"/>
                </a:rPr>
                <a:t>Roll No</a:t>
              </a:r>
              <a:endParaRPr sz="1000" b="1" i="0" u="none" strike="noStrike" cap="none">
                <a:solidFill>
                  <a:srgbClr val="000000"/>
                </a:solidFill>
                <a:latin typeface="Arial"/>
                <a:ea typeface="Arial"/>
                <a:cs typeface="Arial"/>
                <a:sym typeface="Arial"/>
              </a:endParaRPr>
            </a:p>
          </p:txBody>
        </p:sp>
        <p:sp>
          <p:nvSpPr>
            <p:cNvPr id="127" name="Google Shape;127;p76"/>
            <p:cNvSpPr/>
            <p:nvPr/>
          </p:nvSpPr>
          <p:spPr>
            <a:xfrm>
              <a:off x="7166475" y="762414"/>
              <a:ext cx="4577700" cy="296100"/>
            </a:xfrm>
            <a:prstGeom prst="roundRect">
              <a:avLst>
                <a:gd name="adj" fmla="val 16667"/>
              </a:avLst>
            </a:prstGeom>
            <a:solidFill>
              <a:srgbClr val="171616"/>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a:solidFill>
                    <a:schemeClr val="lt1"/>
                  </a:solidFill>
                  <a:latin typeface="Verdana"/>
                  <a:ea typeface="Verdana"/>
                  <a:cs typeface="Verdana"/>
                  <a:sym typeface="Verdana"/>
                </a:rPr>
                <a:t>Name</a:t>
              </a:r>
              <a:endParaRPr sz="1000" b="1" i="0" u="none" strike="noStrike" cap="none">
                <a:solidFill>
                  <a:srgbClr val="000000"/>
                </a:solidFill>
                <a:latin typeface="Arial"/>
                <a:ea typeface="Arial"/>
                <a:cs typeface="Arial"/>
                <a:sym typeface="Arial"/>
              </a:endParaRPr>
            </a:p>
          </p:txBody>
        </p:sp>
      </p:grpSp>
      <p:grpSp>
        <p:nvGrpSpPr>
          <p:cNvPr id="128" name="Google Shape;128;p76"/>
          <p:cNvGrpSpPr/>
          <p:nvPr/>
        </p:nvGrpSpPr>
        <p:grpSpPr>
          <a:xfrm>
            <a:off x="724350" y="1321800"/>
            <a:ext cx="11019925" cy="1244700"/>
            <a:chOff x="677175" y="1118350"/>
            <a:chExt cx="11019925" cy="1244700"/>
          </a:xfrm>
        </p:grpSpPr>
        <p:sp>
          <p:nvSpPr>
            <p:cNvPr id="129" name="Google Shape;129;p76"/>
            <p:cNvSpPr/>
            <p:nvPr/>
          </p:nvSpPr>
          <p:spPr>
            <a:xfrm>
              <a:off x="677175" y="1118350"/>
              <a:ext cx="1398900" cy="1244700"/>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400" b="0" i="0" u="none" strike="noStrike" cap="none">
                  <a:solidFill>
                    <a:schemeClr val="lt1"/>
                  </a:solidFill>
                  <a:latin typeface="Verdana"/>
                  <a:ea typeface="Verdana"/>
                  <a:cs typeface="Verdana"/>
                  <a:sym typeface="Verdana"/>
                </a:rPr>
                <a:t>Photo</a:t>
              </a:r>
              <a:endParaRPr sz="1050" b="0" i="0" u="none" strike="noStrike" cap="none">
                <a:solidFill>
                  <a:srgbClr val="000000"/>
                </a:solidFill>
                <a:latin typeface="Arial"/>
                <a:ea typeface="Arial"/>
                <a:cs typeface="Arial"/>
                <a:sym typeface="Arial"/>
              </a:endParaRPr>
            </a:p>
          </p:txBody>
        </p:sp>
        <p:sp>
          <p:nvSpPr>
            <p:cNvPr id="130" name="Google Shape;130;p76"/>
            <p:cNvSpPr/>
            <p:nvPr/>
          </p:nvSpPr>
          <p:spPr>
            <a:xfrm>
              <a:off x="2759164" y="1557376"/>
              <a:ext cx="187182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0" i="0" u="none" strike="noStrike" cap="none">
                  <a:solidFill>
                    <a:schemeClr val="lt1"/>
                  </a:solidFill>
                  <a:latin typeface="Verdana"/>
                  <a:ea typeface="Verdana"/>
                  <a:cs typeface="Verdana"/>
                  <a:sym typeface="Verdana"/>
                </a:rPr>
                <a:t>EECE AI/ML</a:t>
              </a:r>
              <a:endParaRPr sz="900" b="0" i="0" u="none" strike="noStrike" cap="none">
                <a:solidFill>
                  <a:srgbClr val="000000"/>
                </a:solidFill>
                <a:latin typeface="Arial"/>
                <a:ea typeface="Arial"/>
                <a:cs typeface="Arial"/>
                <a:sym typeface="Arial"/>
              </a:endParaRPr>
            </a:p>
          </p:txBody>
        </p:sp>
        <p:sp>
          <p:nvSpPr>
            <p:cNvPr id="131" name="Google Shape;131;p76"/>
            <p:cNvSpPr/>
            <p:nvPr/>
          </p:nvSpPr>
          <p:spPr>
            <a:xfrm>
              <a:off x="4799350" y="1557375"/>
              <a:ext cx="2138400" cy="369000"/>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US" sz="1500">
                  <a:solidFill>
                    <a:schemeClr val="lt1"/>
                  </a:solidFill>
                  <a:latin typeface="Verdana"/>
                  <a:ea typeface="Verdana"/>
                  <a:cs typeface="Verdana"/>
                  <a:sym typeface="Verdana"/>
                </a:rPr>
                <a:t>BU21EECE0100200</a:t>
              </a:r>
              <a:endParaRPr sz="1500" b="0" i="0" u="none" strike="noStrike" cap="none">
                <a:solidFill>
                  <a:srgbClr val="000000"/>
                </a:solidFill>
                <a:latin typeface="Arial"/>
                <a:ea typeface="Arial"/>
                <a:cs typeface="Arial"/>
                <a:sym typeface="Arial"/>
              </a:endParaRPr>
            </a:p>
          </p:txBody>
        </p:sp>
        <p:sp>
          <p:nvSpPr>
            <p:cNvPr id="132" name="Google Shape;132;p76"/>
            <p:cNvSpPr/>
            <p:nvPr/>
          </p:nvSpPr>
          <p:spPr>
            <a:xfrm>
              <a:off x="7248700" y="1557375"/>
              <a:ext cx="4448400" cy="369000"/>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a:solidFill>
                    <a:schemeClr val="lt1"/>
                  </a:solidFill>
                  <a:latin typeface="Verdana"/>
                  <a:ea typeface="Verdana"/>
                  <a:cs typeface="Verdana"/>
                  <a:sym typeface="Verdana"/>
                </a:rPr>
                <a:t>R S S S Snigdha</a:t>
              </a:r>
              <a:endParaRPr sz="900" b="0" i="0" u="none" strike="noStrike" cap="none">
                <a:solidFill>
                  <a:srgbClr val="000000"/>
                </a:solidFill>
                <a:latin typeface="Arial"/>
                <a:ea typeface="Arial"/>
                <a:cs typeface="Arial"/>
                <a:sym typeface="Arial"/>
              </a:endParaRPr>
            </a:p>
          </p:txBody>
        </p:sp>
      </p:grpSp>
      <p:grpSp>
        <p:nvGrpSpPr>
          <p:cNvPr id="133" name="Google Shape;133;p76"/>
          <p:cNvGrpSpPr/>
          <p:nvPr/>
        </p:nvGrpSpPr>
        <p:grpSpPr>
          <a:xfrm>
            <a:off x="677173" y="3035253"/>
            <a:ext cx="11067077" cy="1244700"/>
            <a:chOff x="677173" y="1118359"/>
            <a:chExt cx="11067077" cy="1244700"/>
          </a:xfrm>
        </p:grpSpPr>
        <p:sp>
          <p:nvSpPr>
            <p:cNvPr id="134" name="Google Shape;134;p76"/>
            <p:cNvSpPr/>
            <p:nvPr/>
          </p:nvSpPr>
          <p:spPr>
            <a:xfrm>
              <a:off x="677173" y="1118359"/>
              <a:ext cx="1402500" cy="1244700"/>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400" b="0" i="0" u="none" strike="noStrike" cap="none">
                  <a:solidFill>
                    <a:schemeClr val="lt1"/>
                  </a:solidFill>
                  <a:latin typeface="Verdana"/>
                  <a:ea typeface="Verdana"/>
                  <a:cs typeface="Verdana"/>
                  <a:sym typeface="Verdana"/>
                </a:rPr>
                <a:t>Photo</a:t>
              </a:r>
              <a:endParaRPr sz="1050" b="0" i="0" u="none" strike="noStrike" cap="none">
                <a:solidFill>
                  <a:srgbClr val="000000"/>
                </a:solidFill>
                <a:latin typeface="Arial"/>
                <a:ea typeface="Arial"/>
                <a:cs typeface="Arial"/>
                <a:sym typeface="Arial"/>
              </a:endParaRPr>
            </a:p>
          </p:txBody>
        </p:sp>
        <p:sp>
          <p:nvSpPr>
            <p:cNvPr id="135" name="Google Shape;135;p76"/>
            <p:cNvSpPr/>
            <p:nvPr/>
          </p:nvSpPr>
          <p:spPr>
            <a:xfrm>
              <a:off x="2759164" y="1557376"/>
              <a:ext cx="187182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0" i="0" u="none" strike="noStrike" cap="none">
                  <a:solidFill>
                    <a:schemeClr val="lt1"/>
                  </a:solidFill>
                  <a:latin typeface="Verdana"/>
                  <a:ea typeface="Verdana"/>
                  <a:cs typeface="Verdana"/>
                  <a:sym typeface="Verdana"/>
                </a:rPr>
                <a:t>EECE AI/ML</a:t>
              </a:r>
              <a:endParaRPr sz="900" b="0" i="0" u="none" strike="noStrike" cap="none">
                <a:solidFill>
                  <a:srgbClr val="000000"/>
                </a:solidFill>
                <a:latin typeface="Arial"/>
                <a:ea typeface="Arial"/>
                <a:cs typeface="Arial"/>
                <a:sym typeface="Arial"/>
              </a:endParaRPr>
            </a:p>
          </p:txBody>
        </p:sp>
        <p:sp>
          <p:nvSpPr>
            <p:cNvPr id="136" name="Google Shape;136;p76"/>
            <p:cNvSpPr/>
            <p:nvPr/>
          </p:nvSpPr>
          <p:spPr>
            <a:xfrm>
              <a:off x="4799350" y="1557381"/>
              <a:ext cx="2220900" cy="369000"/>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600"/>
                <a:buFont typeface="Arial"/>
                <a:buNone/>
              </a:pPr>
              <a:r>
                <a:rPr lang="en-US" sz="1500">
                  <a:solidFill>
                    <a:schemeClr val="lt1"/>
                  </a:solidFill>
                  <a:latin typeface="Verdana"/>
                  <a:ea typeface="Verdana"/>
                  <a:cs typeface="Verdana"/>
                  <a:sym typeface="Verdana"/>
                </a:rPr>
                <a:t>BU21EECE0100097</a:t>
              </a:r>
              <a:endParaRPr sz="1500" b="0" i="0" u="none" strike="noStrike" cap="none">
                <a:solidFill>
                  <a:srgbClr val="000000"/>
                </a:solidFill>
                <a:latin typeface="Arial"/>
                <a:ea typeface="Arial"/>
                <a:cs typeface="Arial"/>
                <a:sym typeface="Arial"/>
              </a:endParaRPr>
            </a:p>
          </p:txBody>
        </p:sp>
        <p:sp>
          <p:nvSpPr>
            <p:cNvPr id="137" name="Google Shape;137;p76"/>
            <p:cNvSpPr/>
            <p:nvPr/>
          </p:nvSpPr>
          <p:spPr>
            <a:xfrm>
              <a:off x="7426350" y="1557381"/>
              <a:ext cx="4317900" cy="369000"/>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a:solidFill>
                    <a:schemeClr val="lt1"/>
                  </a:solidFill>
                  <a:latin typeface="Verdana"/>
                  <a:ea typeface="Verdana"/>
                  <a:cs typeface="Verdana"/>
                  <a:sym typeface="Verdana"/>
                </a:rPr>
                <a:t>K S P Mahadev</a:t>
              </a:r>
              <a:endParaRPr sz="900" b="0" i="0" u="none" strike="noStrike" cap="none">
                <a:solidFill>
                  <a:srgbClr val="000000"/>
                </a:solidFill>
                <a:latin typeface="Arial"/>
                <a:ea typeface="Arial"/>
                <a:cs typeface="Arial"/>
                <a:sym typeface="Arial"/>
              </a:endParaRPr>
            </a:p>
          </p:txBody>
        </p:sp>
      </p:grpSp>
      <p:grpSp>
        <p:nvGrpSpPr>
          <p:cNvPr id="138" name="Google Shape;138;p76"/>
          <p:cNvGrpSpPr/>
          <p:nvPr/>
        </p:nvGrpSpPr>
        <p:grpSpPr>
          <a:xfrm>
            <a:off x="677173" y="4796975"/>
            <a:ext cx="11067002" cy="1338600"/>
            <a:chOff x="829573" y="1270748"/>
            <a:chExt cx="11067002" cy="1338600"/>
          </a:xfrm>
        </p:grpSpPr>
        <p:sp>
          <p:nvSpPr>
            <p:cNvPr id="139" name="Google Shape;139;p76"/>
            <p:cNvSpPr/>
            <p:nvPr/>
          </p:nvSpPr>
          <p:spPr>
            <a:xfrm>
              <a:off x="829573" y="1270748"/>
              <a:ext cx="1446000" cy="1338600"/>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400" b="0" i="0" u="none" strike="noStrike" cap="none">
                  <a:solidFill>
                    <a:schemeClr val="lt1"/>
                  </a:solidFill>
                  <a:latin typeface="Verdana"/>
                  <a:ea typeface="Verdana"/>
                  <a:cs typeface="Verdana"/>
                  <a:sym typeface="Verdana"/>
                </a:rPr>
                <a:t>Photo</a:t>
              </a:r>
              <a:endParaRPr sz="1050" b="0" i="0" u="none" strike="noStrike" cap="none">
                <a:solidFill>
                  <a:srgbClr val="000000"/>
                </a:solidFill>
                <a:latin typeface="Arial"/>
                <a:ea typeface="Arial"/>
                <a:cs typeface="Arial"/>
                <a:sym typeface="Arial"/>
              </a:endParaRPr>
            </a:p>
          </p:txBody>
        </p:sp>
        <p:sp>
          <p:nvSpPr>
            <p:cNvPr id="140" name="Google Shape;140;p76"/>
            <p:cNvSpPr/>
            <p:nvPr/>
          </p:nvSpPr>
          <p:spPr>
            <a:xfrm>
              <a:off x="2911564" y="1557376"/>
              <a:ext cx="1871700" cy="369000"/>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0" i="0" u="none" strike="noStrike" cap="none">
                  <a:solidFill>
                    <a:schemeClr val="lt1"/>
                  </a:solidFill>
                  <a:latin typeface="Verdana"/>
                  <a:ea typeface="Verdana"/>
                  <a:cs typeface="Verdana"/>
                  <a:sym typeface="Verdana"/>
                </a:rPr>
                <a:t>EECE</a:t>
              </a:r>
              <a:endParaRPr sz="900" b="0" i="0" u="none" strike="noStrike" cap="none">
                <a:solidFill>
                  <a:srgbClr val="000000"/>
                </a:solidFill>
                <a:latin typeface="Arial"/>
                <a:ea typeface="Arial"/>
                <a:cs typeface="Arial"/>
                <a:sym typeface="Arial"/>
              </a:endParaRPr>
            </a:p>
          </p:txBody>
        </p:sp>
        <p:sp>
          <p:nvSpPr>
            <p:cNvPr id="141" name="Google Shape;141;p76"/>
            <p:cNvSpPr/>
            <p:nvPr/>
          </p:nvSpPr>
          <p:spPr>
            <a:xfrm>
              <a:off x="4951750" y="1557373"/>
              <a:ext cx="2235600" cy="369000"/>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600"/>
                <a:buFont typeface="Arial"/>
                <a:buNone/>
              </a:pPr>
              <a:endParaRPr sz="1800">
                <a:solidFill>
                  <a:schemeClr val="lt1"/>
                </a:solidFill>
                <a:latin typeface="Verdana"/>
                <a:ea typeface="Verdana"/>
                <a:cs typeface="Verdana"/>
                <a:sym typeface="Verdana"/>
              </a:endParaRPr>
            </a:p>
            <a:p>
              <a:pPr marL="0" lvl="0" indent="0" algn="l" rtl="0">
                <a:spcBef>
                  <a:spcPts val="0"/>
                </a:spcBef>
                <a:spcAft>
                  <a:spcPts val="0"/>
                </a:spcAft>
                <a:buClr>
                  <a:schemeClr val="dk1"/>
                </a:buClr>
                <a:buSzPts val="3600"/>
                <a:buFont typeface="Arial"/>
                <a:buNone/>
              </a:pPr>
              <a:r>
                <a:rPr lang="en-US" sz="1500">
                  <a:solidFill>
                    <a:schemeClr val="lt1"/>
                  </a:solidFill>
                  <a:latin typeface="Verdana"/>
                  <a:ea typeface="Verdana"/>
                  <a:cs typeface="Verdana"/>
                  <a:sym typeface="Verdana"/>
                </a:rPr>
                <a:t>BU21EECE0100083</a:t>
              </a:r>
              <a:endParaRPr sz="1500"/>
            </a:p>
            <a:p>
              <a:pPr marL="0" lvl="0" indent="0" algn="l" rtl="0">
                <a:spcBef>
                  <a:spcPts val="0"/>
                </a:spcBef>
                <a:spcAft>
                  <a:spcPts val="0"/>
                </a:spcAft>
                <a:buClr>
                  <a:schemeClr val="dk1"/>
                </a:buClr>
                <a:buSzPts val="3600"/>
                <a:buFont typeface="Arial"/>
                <a:buNone/>
              </a:pPr>
              <a:endParaRPr sz="1800">
                <a:solidFill>
                  <a:schemeClr val="lt1"/>
                </a:solidFill>
                <a:latin typeface="Verdana"/>
                <a:ea typeface="Verdana"/>
                <a:cs typeface="Verdana"/>
                <a:sym typeface="Verdana"/>
              </a:endParaRPr>
            </a:p>
          </p:txBody>
        </p:sp>
        <p:sp>
          <p:nvSpPr>
            <p:cNvPr id="142" name="Google Shape;142;p76"/>
            <p:cNvSpPr/>
            <p:nvPr/>
          </p:nvSpPr>
          <p:spPr>
            <a:xfrm>
              <a:off x="7547475" y="1557373"/>
              <a:ext cx="4349100" cy="369000"/>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a:solidFill>
                    <a:schemeClr val="lt1"/>
                  </a:solidFill>
                  <a:latin typeface="Verdana"/>
                  <a:ea typeface="Verdana"/>
                  <a:cs typeface="Verdana"/>
                  <a:sym typeface="Verdana"/>
                </a:rPr>
                <a:t>MD Akram</a:t>
              </a:r>
              <a:endParaRPr sz="900" b="0" i="0" u="none" strike="noStrike" cap="none">
                <a:solidFill>
                  <a:srgbClr val="000000"/>
                </a:solidFill>
                <a:latin typeface="Arial"/>
                <a:ea typeface="Arial"/>
                <a:cs typeface="Arial"/>
                <a:sym typeface="Arial"/>
              </a:endParaRPr>
            </a:p>
          </p:txBody>
        </p:sp>
      </p:grpSp>
      <p:sp>
        <p:nvSpPr>
          <p:cNvPr id="143" name="Google Shape;143;p76"/>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5"/>
          <p:cNvPicPr preferRelativeResize="0"/>
          <p:nvPr/>
        </p:nvPicPr>
        <p:blipFill rotWithShape="1">
          <a:blip r:embed="rId3">
            <a:alphaModFix/>
          </a:blip>
          <a:srcRect l="22326" t="32664" r="11835" b="35100"/>
          <a:stretch/>
        </p:blipFill>
        <p:spPr>
          <a:xfrm>
            <a:off x="262467" y="258234"/>
            <a:ext cx="1504951" cy="423333"/>
          </a:xfrm>
          <a:prstGeom prst="rect">
            <a:avLst/>
          </a:prstGeom>
          <a:noFill/>
          <a:ln>
            <a:noFill/>
          </a:ln>
        </p:spPr>
      </p:pic>
      <p:grpSp>
        <p:nvGrpSpPr>
          <p:cNvPr id="149" name="Google Shape;149;p5"/>
          <p:cNvGrpSpPr/>
          <p:nvPr/>
        </p:nvGrpSpPr>
        <p:grpSpPr>
          <a:xfrm>
            <a:off x="11856720" y="140636"/>
            <a:ext cx="223520" cy="990718"/>
            <a:chOff x="11856720" y="140636"/>
            <a:chExt cx="223520" cy="990718"/>
          </a:xfrm>
        </p:grpSpPr>
        <p:grpSp>
          <p:nvGrpSpPr>
            <p:cNvPr id="150" name="Google Shape;150;p5"/>
            <p:cNvGrpSpPr/>
            <p:nvPr/>
          </p:nvGrpSpPr>
          <p:grpSpPr>
            <a:xfrm>
              <a:off x="11856720" y="660278"/>
              <a:ext cx="223520" cy="471076"/>
              <a:chOff x="9734551" y="3138055"/>
              <a:chExt cx="2457449" cy="1328450"/>
            </a:xfrm>
          </p:grpSpPr>
          <p:sp>
            <p:nvSpPr>
              <p:cNvPr id="151" name="Google Shape;151;p5"/>
              <p:cNvSpPr/>
              <p:nvPr/>
            </p:nvSpPr>
            <p:spPr>
              <a:xfrm>
                <a:off x="9759949" y="3870759"/>
                <a:ext cx="2432051" cy="595746"/>
              </a:xfrm>
              <a:prstGeom prst="rect">
                <a:avLst/>
              </a:prstGeom>
              <a:solidFill>
                <a:srgbClr val="E12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52" name="Google Shape;152;p5"/>
              <p:cNvSpPr/>
              <p:nvPr/>
            </p:nvSpPr>
            <p:spPr>
              <a:xfrm>
                <a:off x="9734551" y="3138055"/>
                <a:ext cx="2457449" cy="595746"/>
              </a:xfrm>
              <a:prstGeom prst="rect">
                <a:avLst/>
              </a:prstGeom>
              <a:solidFill>
                <a:srgbClr val="51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nvGrpSpPr>
            <p:cNvPr id="153" name="Google Shape;153;p5"/>
            <p:cNvGrpSpPr/>
            <p:nvPr/>
          </p:nvGrpSpPr>
          <p:grpSpPr>
            <a:xfrm>
              <a:off x="11856720" y="140636"/>
              <a:ext cx="223520" cy="471076"/>
              <a:chOff x="9734551" y="3138055"/>
              <a:chExt cx="2457449" cy="1328450"/>
            </a:xfrm>
          </p:grpSpPr>
          <p:sp>
            <p:nvSpPr>
              <p:cNvPr id="154" name="Google Shape;154;p5"/>
              <p:cNvSpPr/>
              <p:nvPr/>
            </p:nvSpPr>
            <p:spPr>
              <a:xfrm>
                <a:off x="9759949" y="3870759"/>
                <a:ext cx="2432051" cy="595746"/>
              </a:xfrm>
              <a:prstGeom prst="rect">
                <a:avLst/>
              </a:prstGeom>
              <a:solidFill>
                <a:srgbClr val="F7A5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55" name="Google Shape;155;p5"/>
              <p:cNvSpPr/>
              <p:nvPr/>
            </p:nvSpPr>
            <p:spPr>
              <a:xfrm>
                <a:off x="9734551" y="3138055"/>
                <a:ext cx="2457449" cy="595746"/>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pic>
        <p:nvPicPr>
          <p:cNvPr id="156" name="Google Shape;156;p5" descr="A logo with text overlay&#10;&#10;Description automatically generated"/>
          <p:cNvPicPr preferRelativeResize="0"/>
          <p:nvPr/>
        </p:nvPicPr>
        <p:blipFill rotWithShape="1">
          <a:blip r:embed="rId4">
            <a:alphaModFix/>
          </a:blip>
          <a:srcRect l="37906" t="34096" r="9605" b="36394"/>
          <a:stretch/>
        </p:blipFill>
        <p:spPr>
          <a:xfrm>
            <a:off x="11125200" y="11945"/>
            <a:ext cx="1066800" cy="599768"/>
          </a:xfrm>
          <a:prstGeom prst="rect">
            <a:avLst/>
          </a:prstGeom>
          <a:noFill/>
          <a:ln>
            <a:noFill/>
          </a:ln>
        </p:spPr>
      </p:pic>
      <p:sp>
        <p:nvSpPr>
          <p:cNvPr id="157" name="Google Shape;157;p5"/>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Montserrat"/>
                <a:ea typeface="Montserrat"/>
                <a:cs typeface="Montserrat"/>
                <a:sym typeface="Montserrat"/>
              </a:rPr>
              <a:t>Objective and Goals</a:t>
            </a:r>
            <a:endParaRPr sz="1400" b="0" i="0" u="none" strike="noStrike" cap="none">
              <a:solidFill>
                <a:srgbClr val="000000"/>
              </a:solidFill>
              <a:latin typeface="Arial"/>
              <a:ea typeface="Arial"/>
              <a:cs typeface="Arial"/>
              <a:sym typeface="Arial"/>
            </a:endParaRPr>
          </a:p>
        </p:txBody>
      </p:sp>
      <p:sp>
        <p:nvSpPr>
          <p:cNvPr id="158" name="Google Shape;158;p5"/>
          <p:cNvSpPr/>
          <p:nvPr/>
        </p:nvSpPr>
        <p:spPr>
          <a:xfrm>
            <a:off x="550606" y="994505"/>
            <a:ext cx="2114400" cy="302100"/>
          </a:xfrm>
          <a:prstGeom prst="roundRect">
            <a:avLst>
              <a:gd name="adj" fmla="val 16667"/>
            </a:avLst>
          </a:prstGeom>
          <a:solidFill>
            <a:srgbClr val="171616"/>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Objective </a:t>
            </a:r>
            <a:endParaRPr sz="1000" b="1" i="0" u="none" strike="noStrike" cap="none" dirty="0">
              <a:solidFill>
                <a:srgbClr val="000000"/>
              </a:solidFill>
              <a:latin typeface="Arial"/>
              <a:ea typeface="Arial"/>
              <a:cs typeface="Arial"/>
              <a:sym typeface="Arial"/>
            </a:endParaRPr>
          </a:p>
        </p:txBody>
      </p:sp>
      <p:sp>
        <p:nvSpPr>
          <p:cNvPr id="159" name="Google Shape;159;p5"/>
          <p:cNvSpPr/>
          <p:nvPr/>
        </p:nvSpPr>
        <p:spPr>
          <a:xfrm>
            <a:off x="550581" y="3228125"/>
            <a:ext cx="2114400" cy="302100"/>
          </a:xfrm>
          <a:prstGeom prst="roundRect">
            <a:avLst>
              <a:gd name="adj" fmla="val 16667"/>
            </a:avLst>
          </a:prstGeom>
          <a:solidFill>
            <a:srgbClr val="171616"/>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a:solidFill>
                  <a:schemeClr val="lt1"/>
                </a:solidFill>
                <a:latin typeface="Verdana"/>
                <a:ea typeface="Verdana"/>
                <a:cs typeface="Verdana"/>
                <a:sym typeface="Verdana"/>
              </a:rPr>
              <a:t>Goals</a:t>
            </a:r>
            <a:endParaRPr sz="1000" b="1" i="0" u="none" strike="noStrike" cap="none">
              <a:solidFill>
                <a:srgbClr val="000000"/>
              </a:solidFill>
              <a:latin typeface="Arial"/>
              <a:ea typeface="Arial"/>
              <a:cs typeface="Arial"/>
              <a:sym typeface="Arial"/>
            </a:endParaRPr>
          </a:p>
        </p:txBody>
      </p:sp>
      <p:sp>
        <p:nvSpPr>
          <p:cNvPr id="160" name="Google Shape;160;p5"/>
          <p:cNvSpPr txBox="1"/>
          <p:nvPr/>
        </p:nvSpPr>
        <p:spPr>
          <a:xfrm>
            <a:off x="1000124" y="1420761"/>
            <a:ext cx="9943200" cy="160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dirty="0"/>
              <a:t>The main objectives of our project include:</a:t>
            </a:r>
            <a:endParaRPr dirty="0"/>
          </a:p>
          <a:p>
            <a:pPr marL="0" marR="0" lvl="0" indent="0" algn="l" rtl="0">
              <a:lnSpc>
                <a:spcPct val="100000"/>
              </a:lnSpc>
              <a:spcBef>
                <a:spcPts val="0"/>
              </a:spcBef>
              <a:spcAft>
                <a:spcPts val="0"/>
              </a:spcAft>
              <a:buNone/>
            </a:pPr>
            <a:endParaRPr dirty="0"/>
          </a:p>
          <a:p>
            <a:pPr marL="457200" marR="0" lvl="0" indent="-317500" algn="l" rtl="0">
              <a:lnSpc>
                <a:spcPct val="100000"/>
              </a:lnSpc>
              <a:spcBef>
                <a:spcPts val="0"/>
              </a:spcBef>
              <a:spcAft>
                <a:spcPts val="0"/>
              </a:spcAft>
              <a:buSzPts val="1400"/>
              <a:buChar char="➔"/>
            </a:pPr>
            <a:r>
              <a:rPr lang="en-US" dirty="0"/>
              <a:t>Design a metasurface-based polarization convertor which  can convert a linear polarized incident EM wave into circular polarized during reflection at a single frequency in 4-8 GHz  range.</a:t>
            </a:r>
            <a:endParaRPr dirty="0"/>
          </a:p>
          <a:p>
            <a:pPr marL="457200" marR="0" lvl="0" indent="-317500" algn="l" rtl="0">
              <a:lnSpc>
                <a:spcPct val="100000"/>
              </a:lnSpc>
              <a:spcBef>
                <a:spcPts val="0"/>
              </a:spcBef>
              <a:spcAft>
                <a:spcPts val="0"/>
              </a:spcAft>
              <a:buSzPts val="1400"/>
              <a:buChar char="➔"/>
            </a:pPr>
            <a:r>
              <a:rPr lang="en-US" dirty="0"/>
              <a:t>Extend the operation of the converter to multiple frequency.</a:t>
            </a:r>
            <a:endParaRPr dirty="0"/>
          </a:p>
          <a:p>
            <a:pPr marL="457200" marR="0" lvl="0" indent="-317500" algn="l" rtl="0">
              <a:lnSpc>
                <a:spcPct val="100000"/>
              </a:lnSpc>
              <a:spcBef>
                <a:spcPts val="0"/>
              </a:spcBef>
              <a:spcAft>
                <a:spcPts val="0"/>
              </a:spcAft>
              <a:buSzPts val="1400"/>
              <a:buChar char="➔"/>
            </a:pPr>
            <a:r>
              <a:rPr lang="en-US" dirty="0"/>
              <a:t>Analyze the Polarization conversion ability of the surface from the simulated results.	</a:t>
            </a:r>
            <a:endParaRPr dirty="0"/>
          </a:p>
          <a:p>
            <a:pPr marL="457200" marR="0" lvl="0" indent="0" algn="l" rtl="0">
              <a:lnSpc>
                <a:spcPct val="100000"/>
              </a:lnSpc>
              <a:spcBef>
                <a:spcPts val="0"/>
              </a:spcBef>
              <a:spcAft>
                <a:spcPts val="0"/>
              </a:spcAft>
              <a:buNone/>
            </a:pPr>
            <a:endParaRPr dirty="0"/>
          </a:p>
        </p:txBody>
      </p:sp>
      <p:sp>
        <p:nvSpPr>
          <p:cNvPr id="161" name="Google Shape;161;p5"/>
          <p:cNvSpPr txBox="1"/>
          <p:nvPr/>
        </p:nvSpPr>
        <p:spPr>
          <a:xfrm>
            <a:off x="1000117" y="3760722"/>
            <a:ext cx="9943200" cy="181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dirty="0"/>
              <a:t>Main goals</a:t>
            </a:r>
            <a:endParaRPr dirty="0"/>
          </a:p>
          <a:p>
            <a:pPr marL="457200" marR="0" lvl="0" indent="-317500" algn="l" rtl="0">
              <a:lnSpc>
                <a:spcPct val="100000"/>
              </a:lnSpc>
              <a:spcBef>
                <a:spcPts val="0"/>
              </a:spcBef>
              <a:spcAft>
                <a:spcPts val="0"/>
              </a:spcAft>
              <a:buSzPts val="1400"/>
              <a:buFont typeface="Verdana"/>
              <a:buChar char="●"/>
            </a:pPr>
            <a:r>
              <a:rPr lang="en-US" dirty="0">
                <a:latin typeface="Verdana"/>
                <a:ea typeface="Verdana"/>
                <a:cs typeface="Verdana"/>
                <a:sym typeface="Verdana"/>
              </a:rPr>
              <a:t>Achieve precise and efficient conversion.</a:t>
            </a:r>
            <a:endParaRPr dirty="0">
              <a:latin typeface="Verdana"/>
              <a:ea typeface="Verdana"/>
              <a:cs typeface="Verdana"/>
              <a:sym typeface="Verdana"/>
            </a:endParaRPr>
          </a:p>
          <a:p>
            <a:pPr marL="457200" marR="0" lvl="0" indent="-317500" algn="l" rtl="0">
              <a:lnSpc>
                <a:spcPct val="100000"/>
              </a:lnSpc>
              <a:spcBef>
                <a:spcPts val="0"/>
              </a:spcBef>
              <a:spcAft>
                <a:spcPts val="0"/>
              </a:spcAft>
              <a:buSzPts val="1400"/>
              <a:buFont typeface="Verdana"/>
              <a:buChar char="●"/>
            </a:pPr>
            <a:r>
              <a:rPr lang="en-US" dirty="0">
                <a:latin typeface="Verdana"/>
                <a:ea typeface="Verdana"/>
                <a:cs typeface="Verdana"/>
                <a:sym typeface="Verdana"/>
              </a:rPr>
              <a:t>Expand the metasurface capability across multiple frequencies.</a:t>
            </a:r>
            <a:endParaRPr dirty="0">
              <a:latin typeface="Verdana"/>
              <a:ea typeface="Verdana"/>
              <a:cs typeface="Verdana"/>
              <a:sym typeface="Verdana"/>
            </a:endParaRPr>
          </a:p>
          <a:p>
            <a:pPr marL="457200" marR="0" lvl="0" indent="-317500" algn="l" rtl="0">
              <a:lnSpc>
                <a:spcPct val="100000"/>
              </a:lnSpc>
              <a:spcBef>
                <a:spcPts val="0"/>
              </a:spcBef>
              <a:spcAft>
                <a:spcPts val="0"/>
              </a:spcAft>
              <a:buSzPts val="1400"/>
              <a:buFont typeface="Verdana"/>
              <a:buChar char="●"/>
            </a:pPr>
            <a:r>
              <a:rPr lang="en-US" dirty="0">
                <a:latin typeface="Verdana"/>
                <a:ea typeface="Verdana"/>
                <a:cs typeface="Verdana"/>
                <a:sym typeface="Verdana"/>
              </a:rPr>
              <a:t>Validate the performance through simulations, ensuring the results meet our expectations.</a:t>
            </a:r>
            <a:endParaRPr dirty="0">
              <a:latin typeface="Verdana"/>
              <a:ea typeface="Verdana"/>
              <a:cs typeface="Verdana"/>
              <a:sym typeface="Verdana"/>
            </a:endParaRPr>
          </a:p>
          <a:p>
            <a:pPr marL="0" marR="0" lvl="0" indent="0" algn="l" rtl="0">
              <a:lnSpc>
                <a:spcPct val="100000"/>
              </a:lnSpc>
              <a:spcBef>
                <a:spcPts val="0"/>
              </a:spcBef>
              <a:spcAft>
                <a:spcPts val="0"/>
              </a:spcAft>
              <a:buNone/>
            </a:pPr>
            <a:endParaRPr dirty="0">
              <a:latin typeface="Verdana"/>
              <a:ea typeface="Verdana"/>
              <a:cs typeface="Verdana"/>
              <a:sym typeface="Verdana"/>
            </a:endParaRPr>
          </a:p>
          <a:p>
            <a:pPr marL="457200" marR="0" lvl="0" indent="0" algn="l" rtl="0">
              <a:lnSpc>
                <a:spcPct val="100000"/>
              </a:lnSpc>
              <a:spcBef>
                <a:spcPts val="0"/>
              </a:spcBef>
              <a:spcAft>
                <a:spcPts val="0"/>
              </a:spcAft>
              <a:buNone/>
            </a:pPr>
            <a:endParaRPr sz="1400" b="0" i="0" u="none" strike="noStrike" cap="none" dirty="0">
              <a:solidFill>
                <a:srgbClr val="000000"/>
              </a:solidFill>
              <a:latin typeface="Verdana"/>
              <a:ea typeface="Verdana"/>
              <a:cs typeface="Verdana"/>
              <a:sym typeface="Verdana"/>
            </a:endParaRPr>
          </a:p>
          <a:p>
            <a:pPr marL="457200" marR="0" lvl="0" indent="0" algn="l" rtl="0">
              <a:lnSpc>
                <a:spcPct val="100000"/>
              </a:lnSpc>
              <a:spcBef>
                <a:spcPts val="0"/>
              </a:spcBef>
              <a:spcAft>
                <a:spcPts val="0"/>
              </a:spcAft>
              <a:buNone/>
            </a:pPr>
            <a:endParaRPr sz="14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Verdana"/>
              <a:ea typeface="Verdana"/>
              <a:cs typeface="Verdana"/>
              <a:sym typeface="Verdana"/>
            </a:endParaRPr>
          </a:p>
        </p:txBody>
      </p:sp>
      <p:sp>
        <p:nvSpPr>
          <p:cNvPr id="162" name="Google Shape;162;p5"/>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graphicFrame>
        <p:nvGraphicFramePr>
          <p:cNvPr id="186" name="Google Shape;186;p7"/>
          <p:cNvGraphicFramePr/>
          <p:nvPr/>
        </p:nvGraphicFramePr>
        <p:xfrm>
          <a:off x="155038" y="1050750"/>
          <a:ext cx="11881925" cy="5366345"/>
        </p:xfrm>
        <a:graphic>
          <a:graphicData uri="http://schemas.openxmlformats.org/drawingml/2006/table">
            <a:tbl>
              <a:tblPr>
                <a:noFill/>
                <a:tableStyleId>{A8CE8E0E-2C8A-4B5D-890A-D187328A7B21}</a:tableStyleId>
              </a:tblPr>
              <a:tblGrid>
                <a:gridCol w="2631025">
                  <a:extLst>
                    <a:ext uri="{9D8B030D-6E8A-4147-A177-3AD203B41FA5}">
                      <a16:colId xmlns:a16="http://schemas.microsoft.com/office/drawing/2014/main" val="20000"/>
                    </a:ext>
                  </a:extLst>
                </a:gridCol>
                <a:gridCol w="1827075">
                  <a:extLst>
                    <a:ext uri="{9D8B030D-6E8A-4147-A177-3AD203B41FA5}">
                      <a16:colId xmlns:a16="http://schemas.microsoft.com/office/drawing/2014/main" val="20001"/>
                    </a:ext>
                  </a:extLst>
                </a:gridCol>
                <a:gridCol w="2914450">
                  <a:extLst>
                    <a:ext uri="{9D8B030D-6E8A-4147-A177-3AD203B41FA5}">
                      <a16:colId xmlns:a16="http://schemas.microsoft.com/office/drawing/2014/main" val="20002"/>
                    </a:ext>
                  </a:extLst>
                </a:gridCol>
                <a:gridCol w="4509375">
                  <a:extLst>
                    <a:ext uri="{9D8B030D-6E8A-4147-A177-3AD203B41FA5}">
                      <a16:colId xmlns:a16="http://schemas.microsoft.com/office/drawing/2014/main" val="20003"/>
                    </a:ext>
                  </a:extLst>
                </a:gridCol>
              </a:tblGrid>
              <a:tr h="528500">
                <a:tc>
                  <a:txBody>
                    <a:bodyPr/>
                    <a:lstStyle/>
                    <a:p>
                      <a:pPr marL="0" lvl="0" indent="0" algn="ctr" rtl="0">
                        <a:spcBef>
                          <a:spcPts val="0"/>
                        </a:spcBef>
                        <a:spcAft>
                          <a:spcPts val="0"/>
                        </a:spcAft>
                        <a:buNone/>
                      </a:pPr>
                      <a:r>
                        <a:rPr lang="en-US" b="1"/>
                        <a:t>TITLE</a:t>
                      </a:r>
                      <a:endParaRPr b="1"/>
                    </a:p>
                  </a:txBody>
                  <a:tcPr marL="91425" marR="91425" marT="91425" marB="91425"/>
                </a:tc>
                <a:tc>
                  <a:txBody>
                    <a:bodyPr/>
                    <a:lstStyle/>
                    <a:p>
                      <a:pPr marL="0" lvl="0" indent="0" algn="ctr" rtl="0">
                        <a:spcBef>
                          <a:spcPts val="0"/>
                        </a:spcBef>
                        <a:spcAft>
                          <a:spcPts val="0"/>
                        </a:spcAft>
                        <a:buNone/>
                      </a:pPr>
                      <a:r>
                        <a:rPr lang="en-US" b="1">
                          <a:solidFill>
                            <a:schemeClr val="dk1"/>
                          </a:solidFill>
                        </a:rPr>
                        <a:t>AUTHOR and</a:t>
                      </a:r>
                      <a:endParaRPr b="1">
                        <a:solidFill>
                          <a:schemeClr val="dk1"/>
                        </a:solidFill>
                      </a:endParaRPr>
                    </a:p>
                    <a:p>
                      <a:pPr marL="0" lvl="0" indent="0" algn="ctr" rtl="0">
                        <a:spcBef>
                          <a:spcPts val="0"/>
                        </a:spcBef>
                        <a:spcAft>
                          <a:spcPts val="0"/>
                        </a:spcAft>
                        <a:buNone/>
                      </a:pPr>
                      <a:r>
                        <a:rPr lang="en-US" b="1"/>
                        <a:t>YEAR </a:t>
                      </a:r>
                      <a:endParaRPr b="1"/>
                    </a:p>
                  </a:txBody>
                  <a:tcPr marL="91425" marR="91425" marT="91425" marB="91425"/>
                </a:tc>
                <a:tc>
                  <a:txBody>
                    <a:bodyPr/>
                    <a:lstStyle/>
                    <a:p>
                      <a:pPr marL="0" lvl="0" indent="0" algn="ctr" rtl="0">
                        <a:spcBef>
                          <a:spcPts val="0"/>
                        </a:spcBef>
                        <a:spcAft>
                          <a:spcPts val="0"/>
                        </a:spcAft>
                        <a:buNone/>
                      </a:pPr>
                      <a:r>
                        <a:rPr lang="en-US" b="1"/>
                        <a:t>STRUCTURE </a:t>
                      </a:r>
                      <a:endParaRPr b="1"/>
                    </a:p>
                  </a:txBody>
                  <a:tcPr marL="91425" marR="91425" marT="91425" marB="91425"/>
                </a:tc>
                <a:tc>
                  <a:txBody>
                    <a:bodyPr/>
                    <a:lstStyle/>
                    <a:p>
                      <a:pPr marL="0" lvl="0" indent="0" algn="ctr" rtl="0">
                        <a:spcBef>
                          <a:spcPts val="0"/>
                        </a:spcBef>
                        <a:spcAft>
                          <a:spcPts val="0"/>
                        </a:spcAft>
                        <a:buNone/>
                      </a:pPr>
                      <a:r>
                        <a:rPr lang="en-US" b="1"/>
                        <a:t>KEY FINDINGS</a:t>
                      </a:r>
                      <a:endParaRPr b="1"/>
                    </a:p>
                  </a:txBody>
                  <a:tcPr marL="91425" marR="91425" marT="91425" marB="91425"/>
                </a:tc>
                <a:extLst>
                  <a:ext uri="{0D108BD9-81ED-4DB2-BD59-A6C34878D82A}">
                    <a16:rowId xmlns:a16="http://schemas.microsoft.com/office/drawing/2014/main" val="10000"/>
                  </a:ext>
                </a:extLst>
              </a:tr>
              <a:tr h="2236075">
                <a:tc>
                  <a:txBody>
                    <a:bodyPr/>
                    <a:lstStyle/>
                    <a:p>
                      <a:pPr marL="457200" lvl="0" indent="-317500" algn="l" rtl="0">
                        <a:spcBef>
                          <a:spcPts val="0"/>
                        </a:spcBef>
                        <a:spcAft>
                          <a:spcPts val="0"/>
                        </a:spcAft>
                        <a:buClr>
                          <a:schemeClr val="dk1"/>
                        </a:buClr>
                        <a:buSzPts val="1400"/>
                        <a:buFont typeface="Verdana"/>
                        <a:buChar char="●"/>
                      </a:pPr>
                      <a:r>
                        <a:rPr lang="en-US" dirty="0">
                          <a:solidFill>
                            <a:schemeClr val="dk1"/>
                          </a:solidFill>
                          <a:latin typeface="Verdana"/>
                          <a:ea typeface="Verdana"/>
                          <a:cs typeface="Verdana"/>
                          <a:sym typeface="Verdana"/>
                        </a:rPr>
                        <a:t>A Low-Profile Multifunctional Metasurface Reflector for Multiband Polarization Transformation.</a:t>
                      </a:r>
                      <a:endParaRPr dirty="0">
                        <a:solidFill>
                          <a:schemeClr val="dk1"/>
                        </a:solidFill>
                        <a:latin typeface="Verdana"/>
                        <a:ea typeface="Verdana"/>
                        <a:cs typeface="Verdana"/>
                        <a:sym typeface="Verdana"/>
                      </a:endParaRPr>
                    </a:p>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r>
                        <a:rPr lang="en-US" dirty="0" err="1">
                          <a:solidFill>
                            <a:schemeClr val="dk1"/>
                          </a:solidFill>
                        </a:rPr>
                        <a:t>Soumendu</a:t>
                      </a:r>
                      <a:r>
                        <a:rPr lang="en-US" dirty="0">
                          <a:solidFill>
                            <a:schemeClr val="dk1"/>
                          </a:solidFill>
                        </a:rPr>
                        <a:t> Ghosh , Jeet Ghosh , </a:t>
                      </a:r>
                      <a:r>
                        <a:rPr lang="en-US" dirty="0" err="1">
                          <a:solidFill>
                            <a:schemeClr val="dk1"/>
                          </a:solidFill>
                        </a:rPr>
                        <a:t>Moirangthem</a:t>
                      </a:r>
                      <a:r>
                        <a:rPr lang="en-US" dirty="0">
                          <a:solidFill>
                            <a:schemeClr val="dk1"/>
                          </a:solidFill>
                        </a:rPr>
                        <a:t> Santosh Kumar Singh and Abhishek </a:t>
                      </a:r>
                      <a:r>
                        <a:rPr lang="en-US" dirty="0" err="1">
                          <a:solidFill>
                            <a:schemeClr val="dk1"/>
                          </a:solidFill>
                        </a:rPr>
                        <a:t>Sarkhel</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US" dirty="0"/>
                        <a:t>2023</a:t>
                      </a:r>
                      <a:endParaRPr dirty="0"/>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457200" lvl="0" indent="-317500" algn="l" rtl="0">
                        <a:spcBef>
                          <a:spcPts val="0"/>
                        </a:spcBef>
                        <a:spcAft>
                          <a:spcPts val="0"/>
                        </a:spcAft>
                        <a:buClr>
                          <a:schemeClr val="dk1"/>
                        </a:buClr>
                        <a:buSzPts val="1400"/>
                        <a:buChar char="●"/>
                      </a:pPr>
                      <a:r>
                        <a:rPr lang="en-US" b="1" dirty="0">
                          <a:solidFill>
                            <a:schemeClr val="dk1"/>
                          </a:solidFill>
                        </a:rPr>
                        <a:t>Metasurface Design</a:t>
                      </a:r>
                      <a:r>
                        <a:rPr lang="en-US" dirty="0">
                          <a:solidFill>
                            <a:schemeClr val="dk1"/>
                          </a:solidFill>
                        </a:rPr>
                        <a:t>: multifunctional.</a:t>
                      </a:r>
                      <a:endParaRPr dirty="0">
                        <a:solidFill>
                          <a:schemeClr val="dk1"/>
                        </a:solidFill>
                      </a:endParaRPr>
                    </a:p>
                    <a:p>
                      <a:pPr marL="457200" lvl="0" indent="-317500" algn="l" rtl="0">
                        <a:spcBef>
                          <a:spcPts val="0"/>
                        </a:spcBef>
                        <a:spcAft>
                          <a:spcPts val="0"/>
                        </a:spcAft>
                        <a:buClr>
                          <a:schemeClr val="dk1"/>
                        </a:buClr>
                        <a:buSzPts val="1400"/>
                        <a:buChar char="●"/>
                      </a:pPr>
                      <a:r>
                        <a:rPr lang="en-US" sz="1100" b="1" dirty="0">
                          <a:solidFill>
                            <a:schemeClr val="dk1"/>
                          </a:solidFill>
                        </a:rPr>
                        <a:t>Broadband Polarization Conversion</a:t>
                      </a:r>
                      <a:r>
                        <a:rPr lang="en-US" sz="1100" dirty="0">
                          <a:solidFill>
                            <a:schemeClr val="dk1"/>
                          </a:solidFill>
                        </a:rPr>
                        <a:t>: </a:t>
                      </a:r>
                      <a:endParaRPr sz="1100" dirty="0">
                        <a:solidFill>
                          <a:schemeClr val="dk1"/>
                        </a:solidFill>
                      </a:endParaRPr>
                    </a:p>
                    <a:p>
                      <a:pPr marL="457200" lvl="0" indent="0" algn="l" rtl="0">
                        <a:spcBef>
                          <a:spcPts val="0"/>
                        </a:spcBef>
                        <a:spcAft>
                          <a:spcPts val="0"/>
                        </a:spcAft>
                        <a:buNone/>
                      </a:pPr>
                      <a:r>
                        <a:rPr lang="en-US" sz="1100" b="1" dirty="0">
                          <a:solidFill>
                            <a:schemeClr val="dk1"/>
                          </a:solidFill>
                        </a:rPr>
                        <a:t>Tri-Band LP-to-LP Conversion</a:t>
                      </a:r>
                      <a:r>
                        <a:rPr lang="en-US" sz="1100" dirty="0">
                          <a:solidFill>
                            <a:schemeClr val="dk1"/>
                          </a:solidFill>
                        </a:rPr>
                        <a:t>: </a:t>
                      </a:r>
                      <a:r>
                        <a:rPr lang="en-US" sz="1100" b="1" dirty="0">
                          <a:solidFill>
                            <a:schemeClr val="dk1"/>
                          </a:solidFill>
                        </a:rPr>
                        <a:t>5.47-5.68</a:t>
                      </a:r>
                      <a:r>
                        <a:rPr lang="en-US" sz="1100" dirty="0">
                          <a:solidFill>
                            <a:schemeClr val="dk1"/>
                          </a:solidFill>
                        </a:rPr>
                        <a:t> GHz, </a:t>
                      </a:r>
                      <a:r>
                        <a:rPr lang="en-US" sz="1100" b="1" dirty="0">
                          <a:solidFill>
                            <a:schemeClr val="dk1"/>
                          </a:solidFill>
                        </a:rPr>
                        <a:t>7.86-8.84</a:t>
                      </a:r>
                      <a:r>
                        <a:rPr lang="en-US" sz="1100" dirty="0">
                          <a:solidFill>
                            <a:schemeClr val="dk1"/>
                          </a:solidFill>
                        </a:rPr>
                        <a:t> GHz, and </a:t>
                      </a:r>
                      <a:r>
                        <a:rPr lang="en-US" sz="1100" b="1" dirty="0">
                          <a:solidFill>
                            <a:schemeClr val="dk1"/>
                          </a:solidFill>
                        </a:rPr>
                        <a:t>14.68-16.83 </a:t>
                      </a:r>
                      <a:r>
                        <a:rPr lang="en-US" sz="1100" dirty="0">
                          <a:solidFill>
                            <a:schemeClr val="dk1"/>
                          </a:solidFill>
                        </a:rPr>
                        <a:t>GHz.</a:t>
                      </a:r>
                      <a:endParaRPr sz="1100" dirty="0">
                        <a:solidFill>
                          <a:schemeClr val="dk1"/>
                        </a:solidFill>
                      </a:endParaRPr>
                    </a:p>
                    <a:p>
                      <a:pPr marL="457200" lvl="0" indent="0" algn="l" rtl="0">
                        <a:spcBef>
                          <a:spcPts val="0"/>
                        </a:spcBef>
                        <a:spcAft>
                          <a:spcPts val="0"/>
                        </a:spcAft>
                        <a:buNone/>
                      </a:pPr>
                      <a:r>
                        <a:rPr lang="en-US" sz="1100" b="1" dirty="0">
                          <a:solidFill>
                            <a:schemeClr val="dk1"/>
                          </a:solidFill>
                        </a:rPr>
                        <a:t>Quad-Band LP-to-CP Conversion</a:t>
                      </a:r>
                      <a:r>
                        <a:rPr lang="en-US" sz="1100" dirty="0">
                          <a:solidFill>
                            <a:schemeClr val="dk1"/>
                          </a:solidFill>
                        </a:rPr>
                        <a:t>: 5.30-5.41 GHz, 5.77-7.58 GHz, 9.27-13.91 GHz, and 17.53-19.59 GHz.</a:t>
                      </a:r>
                      <a:endParaRPr sz="1100" dirty="0">
                        <a:solidFill>
                          <a:schemeClr val="dk1"/>
                        </a:solidFill>
                      </a:endParaRPr>
                    </a:p>
                    <a:p>
                      <a:pPr marL="457200" lvl="0" indent="-298450" algn="l" rtl="0">
                        <a:spcBef>
                          <a:spcPts val="0"/>
                        </a:spcBef>
                        <a:spcAft>
                          <a:spcPts val="0"/>
                        </a:spcAft>
                        <a:buClr>
                          <a:schemeClr val="dk1"/>
                        </a:buClr>
                        <a:buSzPts val="1100"/>
                        <a:buChar char="●"/>
                      </a:pPr>
                      <a:r>
                        <a:rPr lang="en-US" sz="1100" b="1" dirty="0">
                          <a:solidFill>
                            <a:schemeClr val="dk1"/>
                          </a:solidFill>
                        </a:rPr>
                        <a:t>Radar Cross-Section (RCS) </a:t>
                      </a:r>
                      <a:r>
                        <a:rPr lang="en-US" sz="1100" dirty="0">
                          <a:solidFill>
                            <a:schemeClr val="dk1"/>
                          </a:solidFill>
                        </a:rPr>
                        <a:t>Reduction:</a:t>
                      </a:r>
                      <a:r>
                        <a:rPr lang="en-US" sz="1100" b="1" dirty="0">
                          <a:solidFill>
                            <a:schemeClr val="dk1"/>
                          </a:solidFill>
                        </a:rPr>
                        <a:t> 5.85-5.95 </a:t>
                      </a:r>
                      <a:r>
                        <a:rPr lang="en-US" sz="1100" dirty="0">
                          <a:solidFill>
                            <a:schemeClr val="dk1"/>
                          </a:solidFill>
                        </a:rPr>
                        <a:t>GHz,</a:t>
                      </a:r>
                      <a:r>
                        <a:rPr lang="en-US" sz="1100" b="1" dirty="0">
                          <a:solidFill>
                            <a:schemeClr val="dk1"/>
                          </a:solidFill>
                        </a:rPr>
                        <a:t> 9.2-10.3 </a:t>
                      </a:r>
                      <a:r>
                        <a:rPr lang="en-US" sz="1100" dirty="0">
                          <a:solidFill>
                            <a:schemeClr val="dk1"/>
                          </a:solidFill>
                        </a:rPr>
                        <a:t>GHz, and </a:t>
                      </a:r>
                      <a:r>
                        <a:rPr lang="en-US" sz="1100" b="1" dirty="0">
                          <a:solidFill>
                            <a:schemeClr val="dk1"/>
                          </a:solidFill>
                        </a:rPr>
                        <a:t>16.6-18.5 </a:t>
                      </a:r>
                      <a:r>
                        <a:rPr lang="en-US" sz="1100" dirty="0">
                          <a:solidFill>
                            <a:schemeClr val="dk1"/>
                          </a:solidFill>
                        </a:rPr>
                        <a:t>GHz.</a:t>
                      </a:r>
                      <a:endParaRPr sz="1100" dirty="0">
                        <a:solidFill>
                          <a:schemeClr val="dk1"/>
                        </a:solidFill>
                      </a:endParaRPr>
                    </a:p>
                  </a:txBody>
                  <a:tcPr marL="91425" marR="91425" marT="91425" marB="91425"/>
                </a:tc>
                <a:extLst>
                  <a:ext uri="{0D108BD9-81ED-4DB2-BD59-A6C34878D82A}">
                    <a16:rowId xmlns:a16="http://schemas.microsoft.com/office/drawing/2014/main" val="10001"/>
                  </a:ext>
                </a:extLst>
              </a:tr>
              <a:tr h="2520700">
                <a:tc>
                  <a:txBody>
                    <a:bodyPr/>
                    <a:lstStyle/>
                    <a:p>
                      <a:pPr marL="457200" lvl="0" indent="-317500" algn="l" rtl="0">
                        <a:spcBef>
                          <a:spcPts val="0"/>
                        </a:spcBef>
                        <a:spcAft>
                          <a:spcPts val="0"/>
                        </a:spcAft>
                        <a:buClr>
                          <a:schemeClr val="dk1"/>
                        </a:buClr>
                        <a:buSzPts val="1400"/>
                        <a:buFont typeface="Verdana"/>
                        <a:buChar char="●"/>
                      </a:pPr>
                      <a:r>
                        <a:rPr lang="en-US" dirty="0">
                          <a:solidFill>
                            <a:schemeClr val="dk1"/>
                          </a:solidFill>
                          <a:highlight>
                            <a:srgbClr val="FFFFFF"/>
                          </a:highlight>
                          <a:latin typeface="Verdana"/>
                          <a:ea typeface="Verdana"/>
                          <a:cs typeface="Verdana"/>
                          <a:sym typeface="Verdana"/>
                        </a:rPr>
                        <a:t>Multi-Band Multi-Functional Metasurface-Based Reflective Polarization Converter for Linear and Circular Polarizations</a:t>
                      </a:r>
                      <a:endParaRPr dirty="0">
                        <a:solidFill>
                          <a:schemeClr val="dk1"/>
                        </a:solidFill>
                        <a:latin typeface="Verdana"/>
                        <a:ea typeface="Verdana"/>
                        <a:cs typeface="Verdana"/>
                        <a:sym typeface="Verdana"/>
                      </a:endParaRPr>
                    </a:p>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r>
                        <a:rPr lang="en-US" dirty="0">
                          <a:solidFill>
                            <a:schemeClr val="dk1"/>
                          </a:solidFill>
                        </a:rPr>
                        <a:t>RAHUL DUTTA , JEET GHOSH  , ZHENGBAO YANG  ,AND XINGQI ZHANG,</a:t>
                      </a:r>
                      <a:endParaRPr dirty="0">
                        <a:solidFill>
                          <a:schemeClr val="dk1"/>
                        </a:solidFill>
                      </a:endParaRPr>
                    </a:p>
                    <a:p>
                      <a:pPr marL="0" lvl="0" indent="0" algn="l" rtl="0">
                        <a:spcBef>
                          <a:spcPts val="0"/>
                        </a:spcBef>
                        <a:spcAft>
                          <a:spcPts val="0"/>
                        </a:spcAft>
                        <a:buNone/>
                      </a:pPr>
                      <a:endParaRPr dirty="0"/>
                    </a:p>
                    <a:p>
                      <a:pPr marL="0" lvl="0" indent="0" algn="l" rtl="0">
                        <a:spcBef>
                          <a:spcPts val="0"/>
                        </a:spcBef>
                        <a:spcAft>
                          <a:spcPts val="0"/>
                        </a:spcAft>
                        <a:buNone/>
                      </a:pPr>
                      <a:r>
                        <a:rPr lang="en-US" dirty="0"/>
                        <a:t>2021</a:t>
                      </a:r>
                      <a:endParaRPr dirty="0"/>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457200" lvl="0" indent="-298450" algn="l" rtl="0">
                        <a:spcBef>
                          <a:spcPts val="0"/>
                        </a:spcBef>
                        <a:spcAft>
                          <a:spcPts val="0"/>
                        </a:spcAft>
                        <a:buClr>
                          <a:schemeClr val="dk1"/>
                        </a:buClr>
                        <a:buSzPts val="1100"/>
                        <a:buChar char="●"/>
                      </a:pPr>
                      <a:r>
                        <a:rPr lang="en-US" sz="1100" b="1" dirty="0">
                          <a:solidFill>
                            <a:schemeClr val="dk1"/>
                          </a:solidFill>
                        </a:rPr>
                        <a:t>Multiband Polarization </a:t>
                      </a:r>
                      <a:r>
                        <a:rPr lang="en-US" sz="1100" b="1" dirty="0" err="1">
                          <a:solidFill>
                            <a:schemeClr val="dk1"/>
                          </a:solidFill>
                        </a:rPr>
                        <a:t>Conversion</a:t>
                      </a:r>
                      <a:r>
                        <a:rPr lang="en-US" sz="1100" dirty="0" err="1">
                          <a:solidFill>
                            <a:schemeClr val="dk1"/>
                          </a:solidFill>
                        </a:rPr>
                        <a:t>:linear-to-orthogonal</a:t>
                      </a:r>
                      <a:r>
                        <a:rPr lang="en-US" sz="1100" dirty="0">
                          <a:solidFill>
                            <a:schemeClr val="dk1"/>
                          </a:solidFill>
                        </a:rPr>
                        <a:t> linear 4.3 GHz, 7.2 GHz, 12.3 GHz, and 15.15 GHz</a:t>
                      </a:r>
                      <a:endParaRPr sz="1100" dirty="0">
                        <a:solidFill>
                          <a:schemeClr val="dk1"/>
                        </a:solidFill>
                      </a:endParaRPr>
                    </a:p>
                    <a:p>
                      <a:pPr marL="457200" lvl="0" indent="-298450" algn="l" rtl="0">
                        <a:spcBef>
                          <a:spcPts val="0"/>
                        </a:spcBef>
                        <a:spcAft>
                          <a:spcPts val="0"/>
                        </a:spcAft>
                        <a:buClr>
                          <a:schemeClr val="dk1"/>
                        </a:buClr>
                        <a:buSzPts val="1100"/>
                        <a:buChar char="●"/>
                      </a:pPr>
                      <a:r>
                        <a:rPr lang="en-US" sz="1100" b="1" dirty="0">
                          <a:solidFill>
                            <a:schemeClr val="dk1"/>
                          </a:solidFill>
                        </a:rPr>
                        <a:t>linear-to-circular and circular-to-linear: 4 GHz, 4.75–5.95 GHz, 8.35–8.8 GHz, and 14.35–14.6 GHz.</a:t>
                      </a:r>
                      <a:endParaRPr sz="1100" b="1" dirty="0">
                        <a:solidFill>
                          <a:schemeClr val="dk1"/>
                        </a:solidFill>
                      </a:endParaRPr>
                    </a:p>
                    <a:p>
                      <a:pPr marL="457200" lvl="0" indent="-298450" algn="l" rtl="0">
                        <a:spcBef>
                          <a:spcPts val="0"/>
                        </a:spcBef>
                        <a:spcAft>
                          <a:spcPts val="0"/>
                        </a:spcAft>
                        <a:buClr>
                          <a:schemeClr val="dk1"/>
                        </a:buClr>
                        <a:buSzPts val="1100"/>
                        <a:buChar char="●"/>
                      </a:pPr>
                      <a:r>
                        <a:rPr lang="en-US" sz="1100" b="1" dirty="0">
                          <a:solidFill>
                            <a:schemeClr val="dk1"/>
                          </a:solidFill>
                        </a:rPr>
                        <a:t>Design and Resonance Mechanism: The multiband operation is attributed to multiple resonances occurring within the structure, which is based on a meandered square ring and diagonal split strip resonator.</a:t>
                      </a:r>
                      <a:endParaRPr sz="1100" b="1" dirty="0">
                        <a:solidFill>
                          <a:schemeClr val="dk1"/>
                        </a:solidFill>
                      </a:endParaRPr>
                    </a:p>
                  </a:txBody>
                  <a:tcPr marL="91425" marR="91425" marT="91425" marB="91425"/>
                </a:tc>
                <a:extLst>
                  <a:ext uri="{0D108BD9-81ED-4DB2-BD59-A6C34878D82A}">
                    <a16:rowId xmlns:a16="http://schemas.microsoft.com/office/drawing/2014/main" val="10002"/>
                  </a:ext>
                </a:extLst>
              </a:tr>
            </a:tbl>
          </a:graphicData>
        </a:graphic>
      </p:graphicFrame>
      <p:sp>
        <p:nvSpPr>
          <p:cNvPr id="187" name="Google Shape;187;p7"/>
          <p:cNvSpPr txBox="1">
            <a:spLocks noGrp="1"/>
          </p:cNvSpPr>
          <p:nvPr>
            <p:ph type="sldNum" idx="12"/>
          </p:nvPr>
        </p:nvSpPr>
        <p:spPr>
          <a:xfrm>
            <a:off x="9448799"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
        <p:nvSpPr>
          <p:cNvPr id="188" name="Google Shape;188;p7"/>
          <p:cNvSpPr txBox="1"/>
          <p:nvPr/>
        </p:nvSpPr>
        <p:spPr>
          <a:xfrm>
            <a:off x="1000124" y="232275"/>
            <a:ext cx="10515600" cy="49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Montserrat"/>
                <a:ea typeface="Montserrat"/>
                <a:cs typeface="Montserrat"/>
                <a:sym typeface="Montserrat"/>
              </a:rPr>
              <a:t>Literature Survey</a:t>
            </a:r>
            <a:endParaRPr sz="1400" b="0" i="0" u="none" strike="noStrike" cap="none">
              <a:solidFill>
                <a:srgbClr val="000000"/>
              </a:solidFill>
              <a:latin typeface="Arial"/>
              <a:ea typeface="Arial"/>
              <a:cs typeface="Arial"/>
              <a:sym typeface="Arial"/>
            </a:endParaRPr>
          </a:p>
        </p:txBody>
      </p:sp>
      <p:pic>
        <p:nvPicPr>
          <p:cNvPr id="189" name="Google Shape;189;p7"/>
          <p:cNvPicPr preferRelativeResize="0"/>
          <p:nvPr/>
        </p:nvPicPr>
        <p:blipFill>
          <a:blip r:embed="rId3">
            <a:alphaModFix/>
          </a:blip>
          <a:stretch>
            <a:fillRect/>
          </a:stretch>
        </p:blipFill>
        <p:spPr>
          <a:xfrm>
            <a:off x="4613150" y="1660300"/>
            <a:ext cx="2829869" cy="2160313"/>
          </a:xfrm>
          <a:prstGeom prst="rect">
            <a:avLst/>
          </a:prstGeom>
          <a:noFill/>
          <a:ln>
            <a:noFill/>
          </a:ln>
        </p:spPr>
      </p:pic>
      <p:pic>
        <p:nvPicPr>
          <p:cNvPr id="190" name="Google Shape;190;p7"/>
          <p:cNvPicPr preferRelativeResize="0"/>
          <p:nvPr/>
        </p:nvPicPr>
        <p:blipFill>
          <a:blip r:embed="rId4">
            <a:alphaModFix/>
          </a:blip>
          <a:stretch>
            <a:fillRect/>
          </a:stretch>
        </p:blipFill>
        <p:spPr>
          <a:xfrm>
            <a:off x="4829188" y="3980675"/>
            <a:ext cx="2533650" cy="2362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2f7b04de720_0_22"/>
          <p:cNvSpPr txBox="1">
            <a:spLocks noGrp="1"/>
          </p:cNvSpPr>
          <p:nvPr>
            <p:ph type="sldNum" idx="12"/>
          </p:nvPr>
        </p:nvSpPr>
        <p:spPr>
          <a:xfrm>
            <a:off x="9448799"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196" name="Google Shape;196;g2f7b04de720_0_22"/>
          <p:cNvSpPr txBox="1"/>
          <p:nvPr/>
        </p:nvSpPr>
        <p:spPr>
          <a:xfrm>
            <a:off x="1000124" y="232275"/>
            <a:ext cx="10515600" cy="49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Montserrat"/>
                <a:ea typeface="Montserrat"/>
                <a:cs typeface="Montserrat"/>
                <a:sym typeface="Montserrat"/>
              </a:rPr>
              <a:t>Literature Survey</a:t>
            </a:r>
            <a:endParaRPr sz="1400" b="0" i="0" u="none" strike="noStrike" cap="none">
              <a:solidFill>
                <a:srgbClr val="000000"/>
              </a:solidFill>
              <a:latin typeface="Arial"/>
              <a:ea typeface="Arial"/>
              <a:cs typeface="Arial"/>
              <a:sym typeface="Arial"/>
            </a:endParaRPr>
          </a:p>
        </p:txBody>
      </p:sp>
      <p:graphicFrame>
        <p:nvGraphicFramePr>
          <p:cNvPr id="197" name="Google Shape;197;g2f7b04de720_0_22"/>
          <p:cNvGraphicFramePr/>
          <p:nvPr>
            <p:extLst>
              <p:ext uri="{D42A27DB-BD31-4B8C-83A1-F6EECF244321}">
                <p14:modId xmlns:p14="http://schemas.microsoft.com/office/powerpoint/2010/main" val="874033309"/>
              </p:ext>
            </p:extLst>
          </p:nvPr>
        </p:nvGraphicFramePr>
        <p:xfrm>
          <a:off x="176588" y="726075"/>
          <a:ext cx="11881925" cy="6131925"/>
        </p:xfrm>
        <a:graphic>
          <a:graphicData uri="http://schemas.openxmlformats.org/drawingml/2006/table">
            <a:tbl>
              <a:tblPr>
                <a:noFill/>
                <a:tableStyleId>{A8CE8E0E-2C8A-4B5D-890A-D187328A7B21}</a:tableStyleId>
              </a:tblPr>
              <a:tblGrid>
                <a:gridCol w="2602025">
                  <a:extLst>
                    <a:ext uri="{9D8B030D-6E8A-4147-A177-3AD203B41FA5}">
                      <a16:colId xmlns:a16="http://schemas.microsoft.com/office/drawing/2014/main" val="20000"/>
                    </a:ext>
                  </a:extLst>
                </a:gridCol>
                <a:gridCol w="1870550">
                  <a:extLst>
                    <a:ext uri="{9D8B030D-6E8A-4147-A177-3AD203B41FA5}">
                      <a16:colId xmlns:a16="http://schemas.microsoft.com/office/drawing/2014/main" val="20001"/>
                    </a:ext>
                  </a:extLst>
                </a:gridCol>
                <a:gridCol w="2885475">
                  <a:extLst>
                    <a:ext uri="{9D8B030D-6E8A-4147-A177-3AD203B41FA5}">
                      <a16:colId xmlns:a16="http://schemas.microsoft.com/office/drawing/2014/main" val="20002"/>
                    </a:ext>
                  </a:extLst>
                </a:gridCol>
                <a:gridCol w="4523875">
                  <a:extLst>
                    <a:ext uri="{9D8B030D-6E8A-4147-A177-3AD203B41FA5}">
                      <a16:colId xmlns:a16="http://schemas.microsoft.com/office/drawing/2014/main" val="20003"/>
                    </a:ext>
                  </a:extLst>
                </a:gridCol>
              </a:tblGrid>
              <a:tr h="626023">
                <a:tc>
                  <a:txBody>
                    <a:bodyPr/>
                    <a:lstStyle/>
                    <a:p>
                      <a:pPr marL="0" lvl="0" indent="0" algn="ctr" rtl="0">
                        <a:spcBef>
                          <a:spcPts val="0"/>
                        </a:spcBef>
                        <a:spcAft>
                          <a:spcPts val="0"/>
                        </a:spcAft>
                        <a:buNone/>
                      </a:pPr>
                      <a:r>
                        <a:rPr lang="en-US" b="1"/>
                        <a:t>TITLE</a:t>
                      </a:r>
                      <a:endParaRPr b="1"/>
                    </a:p>
                  </a:txBody>
                  <a:tcPr marL="91425" marR="91425" marT="91425" marB="91425"/>
                </a:tc>
                <a:tc>
                  <a:txBody>
                    <a:bodyPr/>
                    <a:lstStyle/>
                    <a:p>
                      <a:pPr marL="0" lvl="0" indent="0" algn="ctr" rtl="0">
                        <a:spcBef>
                          <a:spcPts val="0"/>
                        </a:spcBef>
                        <a:spcAft>
                          <a:spcPts val="0"/>
                        </a:spcAft>
                        <a:buNone/>
                      </a:pPr>
                      <a:r>
                        <a:rPr lang="en-US" b="1">
                          <a:solidFill>
                            <a:schemeClr val="dk1"/>
                          </a:solidFill>
                        </a:rPr>
                        <a:t>AUTHOR</a:t>
                      </a:r>
                      <a:endParaRPr b="1">
                        <a:solidFill>
                          <a:schemeClr val="dk1"/>
                        </a:solidFill>
                      </a:endParaRPr>
                    </a:p>
                    <a:p>
                      <a:pPr marL="0" lvl="0" indent="0" algn="ctr" rtl="0">
                        <a:spcBef>
                          <a:spcPts val="0"/>
                        </a:spcBef>
                        <a:spcAft>
                          <a:spcPts val="0"/>
                        </a:spcAft>
                        <a:buNone/>
                      </a:pPr>
                      <a:r>
                        <a:rPr lang="en-US" b="1"/>
                        <a:t>and </a:t>
                      </a:r>
                      <a:r>
                        <a:rPr lang="en-US" b="1">
                          <a:solidFill>
                            <a:schemeClr val="dk1"/>
                          </a:solidFill>
                        </a:rPr>
                        <a:t>YEAR</a:t>
                      </a:r>
                      <a:r>
                        <a:rPr lang="en-US" b="1"/>
                        <a:t> </a:t>
                      </a:r>
                      <a:endParaRPr b="1"/>
                    </a:p>
                  </a:txBody>
                  <a:tcPr marL="91425" marR="91425" marT="91425" marB="91425"/>
                </a:tc>
                <a:tc>
                  <a:txBody>
                    <a:bodyPr/>
                    <a:lstStyle/>
                    <a:p>
                      <a:pPr marL="0" lvl="0" indent="0" algn="ctr" rtl="0">
                        <a:spcBef>
                          <a:spcPts val="0"/>
                        </a:spcBef>
                        <a:spcAft>
                          <a:spcPts val="0"/>
                        </a:spcAft>
                        <a:buNone/>
                      </a:pPr>
                      <a:r>
                        <a:rPr lang="en-US" b="1"/>
                        <a:t>STRUCTURE</a:t>
                      </a:r>
                      <a:endParaRPr b="1"/>
                    </a:p>
                  </a:txBody>
                  <a:tcPr marL="91425" marR="91425" marT="91425" marB="91425"/>
                </a:tc>
                <a:tc>
                  <a:txBody>
                    <a:bodyPr/>
                    <a:lstStyle/>
                    <a:p>
                      <a:pPr marL="0" lvl="0" indent="0" algn="ctr" rtl="0">
                        <a:spcBef>
                          <a:spcPts val="0"/>
                        </a:spcBef>
                        <a:spcAft>
                          <a:spcPts val="0"/>
                        </a:spcAft>
                        <a:buNone/>
                      </a:pPr>
                      <a:r>
                        <a:rPr lang="en-US" b="1"/>
                        <a:t>KEY FINDINGS</a:t>
                      </a:r>
                      <a:endParaRPr b="1"/>
                    </a:p>
                  </a:txBody>
                  <a:tcPr marL="91425" marR="91425" marT="91425" marB="91425"/>
                </a:tc>
                <a:extLst>
                  <a:ext uri="{0D108BD9-81ED-4DB2-BD59-A6C34878D82A}">
                    <a16:rowId xmlns:a16="http://schemas.microsoft.com/office/drawing/2014/main" val="10000"/>
                  </a:ext>
                </a:extLst>
              </a:tr>
              <a:tr h="2533598">
                <a:tc>
                  <a:txBody>
                    <a:bodyPr/>
                    <a:lstStyle/>
                    <a:p>
                      <a:pPr marL="457200" lvl="0" indent="-317500" algn="l" rtl="0">
                        <a:lnSpc>
                          <a:spcPct val="115000"/>
                        </a:lnSpc>
                        <a:spcBef>
                          <a:spcPts val="0"/>
                        </a:spcBef>
                        <a:spcAft>
                          <a:spcPts val="0"/>
                        </a:spcAft>
                        <a:buClr>
                          <a:schemeClr val="dk1"/>
                        </a:buClr>
                        <a:buSzPts val="1400"/>
                        <a:buFont typeface="Verdana"/>
                        <a:buChar char="●"/>
                      </a:pPr>
                      <a:r>
                        <a:rPr lang="en-US" dirty="0">
                          <a:solidFill>
                            <a:schemeClr val="dk1"/>
                          </a:solidFill>
                          <a:highlight>
                            <a:srgbClr val="FFFFFF"/>
                          </a:highlight>
                          <a:latin typeface="Verdana"/>
                          <a:ea typeface="Verdana"/>
                          <a:cs typeface="Verdana"/>
                          <a:sym typeface="Verdana"/>
                        </a:rPr>
                        <a:t>Ultrathin Single Layer Transmissive Dual-Band Linear to Circular Converter for Non-Adjacent Dual Orthogonal Circularly Polarized Antenna</a:t>
                      </a:r>
                      <a:endParaRPr dirty="0">
                        <a:solidFill>
                          <a:schemeClr val="dk1"/>
                        </a:solidFill>
                        <a:latin typeface="Verdana"/>
                        <a:ea typeface="Verdana"/>
                        <a:cs typeface="Verdana"/>
                        <a:sym typeface="Verdana"/>
                      </a:endParaRPr>
                    </a:p>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r>
                        <a:rPr lang="en-US" dirty="0">
                          <a:solidFill>
                            <a:schemeClr val="dk1"/>
                          </a:solidFill>
                        </a:rPr>
                        <a:t>SOUMIK DEY , SUKOMAL DEY.</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US" dirty="0">
                          <a:solidFill>
                            <a:schemeClr val="dk1"/>
                          </a:solidFill>
                        </a:rPr>
                        <a:t>2024</a:t>
                      </a:r>
                      <a:endParaRPr dirty="0">
                        <a:solidFill>
                          <a:schemeClr val="dk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457200" lvl="0" indent="-317500" algn="l" rtl="0">
                        <a:spcBef>
                          <a:spcPts val="0"/>
                        </a:spcBef>
                        <a:spcAft>
                          <a:spcPts val="0"/>
                        </a:spcAft>
                        <a:buSzPts val="1400"/>
                        <a:buChar char="●"/>
                      </a:pPr>
                      <a:r>
                        <a:rPr lang="en-US" b="1"/>
                        <a:t>Dual-Band Transmissive Polarizer:</a:t>
                      </a:r>
                      <a:r>
                        <a:rPr lang="en-US"/>
                        <a:t>Designed on a single-layer, ultra-thin dielectric substrate (0.51 mm thick Taconic TLY-5).</a:t>
                      </a:r>
                      <a:endParaRPr/>
                    </a:p>
                    <a:p>
                      <a:pPr marL="457200" lvl="0" indent="-317500" algn="l" rtl="0">
                        <a:spcBef>
                          <a:spcPts val="0"/>
                        </a:spcBef>
                        <a:spcAft>
                          <a:spcPts val="0"/>
                        </a:spcAft>
                        <a:buSzPts val="1400"/>
                        <a:buChar char="●"/>
                      </a:pPr>
                      <a:r>
                        <a:rPr lang="en-US" b="1">
                          <a:solidFill>
                            <a:schemeClr val="dk1"/>
                          </a:solidFill>
                        </a:rPr>
                        <a:t>Frequency and Angle Stability:</a:t>
                      </a:r>
                      <a:r>
                        <a:rPr lang="en-US" sz="1100">
                          <a:solidFill>
                            <a:schemeClr val="dk1"/>
                          </a:solidFill>
                        </a:rPr>
                        <a:t>The LTCP achieves polarization conversion at </a:t>
                      </a:r>
                      <a:r>
                        <a:rPr lang="en-US" sz="1100" b="1">
                          <a:solidFill>
                            <a:schemeClr val="dk1"/>
                          </a:solidFill>
                        </a:rPr>
                        <a:t>11.2 GHz and 22.75 GHz</a:t>
                      </a:r>
                      <a:r>
                        <a:rPr lang="en-US" sz="1100">
                          <a:solidFill>
                            <a:schemeClr val="dk1"/>
                          </a:solidFill>
                        </a:rPr>
                        <a:t> with oblique angle stability up to 35°.</a:t>
                      </a:r>
                      <a:endParaRPr b="1"/>
                    </a:p>
                  </a:txBody>
                  <a:tcPr marL="91425" marR="91425" marT="91425" marB="91425"/>
                </a:tc>
                <a:extLst>
                  <a:ext uri="{0D108BD9-81ED-4DB2-BD59-A6C34878D82A}">
                    <a16:rowId xmlns:a16="http://schemas.microsoft.com/office/drawing/2014/main" val="10001"/>
                  </a:ext>
                </a:extLst>
              </a:tr>
              <a:tr h="2972304">
                <a:tc>
                  <a:txBody>
                    <a:bodyPr/>
                    <a:lstStyle/>
                    <a:p>
                      <a:pPr marL="457200" lvl="0" indent="-317500" algn="l" rtl="0">
                        <a:lnSpc>
                          <a:spcPct val="123913"/>
                        </a:lnSpc>
                        <a:spcBef>
                          <a:spcPts val="0"/>
                        </a:spcBef>
                        <a:spcAft>
                          <a:spcPts val="0"/>
                        </a:spcAft>
                        <a:buClr>
                          <a:schemeClr val="dk1"/>
                        </a:buClr>
                        <a:buSzPts val="1400"/>
                        <a:buFont typeface="Verdana"/>
                        <a:buChar char="●"/>
                      </a:pPr>
                      <a:r>
                        <a:rPr lang="en-US" dirty="0">
                          <a:solidFill>
                            <a:srgbClr val="333333"/>
                          </a:solidFill>
                          <a:highlight>
                            <a:srgbClr val="FFFFFF"/>
                          </a:highlight>
                          <a:latin typeface="Verdana"/>
                          <a:ea typeface="Verdana"/>
                          <a:cs typeface="Verdana"/>
                          <a:sym typeface="Verdana"/>
                        </a:rPr>
                        <a:t>Simultaneous Transmission and Reflection Mode Linear-to-Circular Polarization Conversion Using a Single Metasurface</a:t>
                      </a:r>
                      <a:endParaRPr dirty="0"/>
                    </a:p>
                  </a:txBody>
                  <a:tcPr marL="91425" marR="91425" marT="91425" marB="91425"/>
                </a:tc>
                <a:tc>
                  <a:txBody>
                    <a:bodyPr/>
                    <a:lstStyle/>
                    <a:p>
                      <a:pPr marL="0" lvl="0" indent="0" algn="l" rtl="0">
                        <a:spcBef>
                          <a:spcPts val="0"/>
                        </a:spcBef>
                        <a:spcAft>
                          <a:spcPts val="0"/>
                        </a:spcAft>
                        <a:buNone/>
                      </a:pPr>
                      <a:r>
                        <a:rPr lang="en-US" sz="1350" dirty="0" err="1">
                          <a:solidFill>
                            <a:schemeClr val="dk1"/>
                          </a:solidFill>
                          <a:highlight>
                            <a:srgbClr val="FFFFFF"/>
                          </a:highlight>
                          <a:uFill>
                            <a:noFill/>
                          </a:uFill>
                          <a:hlinkClick r:id="rId3">
                            <a:extLst>
                              <a:ext uri="{A12FA001-AC4F-418D-AE19-62706E023703}">
                                <ahyp:hlinkClr xmlns:ahyp="http://schemas.microsoft.com/office/drawing/2018/hyperlinkcolor" val="tx"/>
                              </a:ext>
                            </a:extLst>
                          </a:hlinkClick>
                        </a:rPr>
                        <a:t>Debidas</a:t>
                      </a:r>
                      <a:r>
                        <a:rPr lang="en-US" sz="1350" dirty="0">
                          <a:solidFill>
                            <a:schemeClr val="dk1"/>
                          </a:solidFill>
                          <a:highlight>
                            <a:srgbClr val="FFFFFF"/>
                          </a:highlight>
                          <a:uFill>
                            <a:noFill/>
                          </a:uFill>
                          <a:hlinkClick r:id="rId3">
                            <a:extLst>
                              <a:ext uri="{A12FA001-AC4F-418D-AE19-62706E023703}">
                                <ahyp:hlinkClr xmlns:ahyp="http://schemas.microsoft.com/office/drawing/2018/hyperlinkcolor" val="tx"/>
                              </a:ext>
                            </a:extLst>
                          </a:hlinkClick>
                        </a:rPr>
                        <a:t> Kundu</a:t>
                      </a:r>
                      <a:r>
                        <a:rPr lang="en-US" sz="1350" dirty="0">
                          <a:solidFill>
                            <a:schemeClr val="dk1"/>
                          </a:solidFill>
                          <a:highlight>
                            <a:srgbClr val="FFFFFF"/>
                          </a:highlight>
                        </a:rPr>
                        <a:t>; </a:t>
                      </a:r>
                      <a:r>
                        <a:rPr lang="en-US" sz="1350" dirty="0" err="1">
                          <a:solidFill>
                            <a:schemeClr val="dk1"/>
                          </a:solidFill>
                          <a:highlight>
                            <a:srgbClr val="FFFFFF"/>
                          </a:highlight>
                          <a:uFill>
                            <a:noFill/>
                          </a:uFill>
                          <a:hlinkClick r:id="rId4">
                            <a:extLst>
                              <a:ext uri="{A12FA001-AC4F-418D-AE19-62706E023703}">
                                <ahyp:hlinkClr xmlns:ahyp="http://schemas.microsoft.com/office/drawing/2018/hyperlinkcolor" val="tx"/>
                              </a:ext>
                            </a:extLst>
                          </a:hlinkClick>
                        </a:rPr>
                        <a:t>Dhrubajyoti</a:t>
                      </a:r>
                      <a:r>
                        <a:rPr lang="en-US" sz="1350" dirty="0">
                          <a:solidFill>
                            <a:schemeClr val="dk1"/>
                          </a:solidFill>
                          <a:highlight>
                            <a:srgbClr val="FFFFFF"/>
                          </a:highlight>
                          <a:uFill>
                            <a:noFill/>
                          </a:uFill>
                          <a:hlinkClick r:id="rId4">
                            <a:extLst>
                              <a:ext uri="{A12FA001-AC4F-418D-AE19-62706E023703}">
                                <ahyp:hlinkClr xmlns:ahyp="http://schemas.microsoft.com/office/drawing/2018/hyperlinkcolor" val="tx"/>
                              </a:ext>
                            </a:extLst>
                          </a:hlinkClick>
                        </a:rPr>
                        <a:t> Bhattacharya</a:t>
                      </a:r>
                      <a:r>
                        <a:rPr lang="en-US" sz="1350" dirty="0">
                          <a:solidFill>
                            <a:schemeClr val="dk1"/>
                          </a:solidFill>
                          <a:highlight>
                            <a:srgbClr val="FFFFFF"/>
                          </a:highlight>
                        </a:rPr>
                        <a:t>; </a:t>
                      </a:r>
                      <a:r>
                        <a:rPr lang="en-US" sz="1350" dirty="0">
                          <a:solidFill>
                            <a:schemeClr val="dk1"/>
                          </a:solidFill>
                          <a:highlight>
                            <a:srgbClr val="FFFFFF"/>
                          </a:highlight>
                          <a:uFill>
                            <a:noFill/>
                          </a:uFill>
                          <a:hlinkClick r:id="rId5">
                            <a:extLst>
                              <a:ext uri="{A12FA001-AC4F-418D-AE19-62706E023703}">
                                <ahyp:hlinkClr xmlns:ahyp="http://schemas.microsoft.com/office/drawing/2018/hyperlinkcolor" val="tx"/>
                              </a:ext>
                            </a:extLst>
                          </a:hlinkClick>
                        </a:rPr>
                        <a:t>Debashree Pathak</a:t>
                      </a: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100"/>
                        <a:buFont typeface="Arial"/>
                        <a:buNone/>
                      </a:pPr>
                      <a:r>
                        <a:rPr lang="en-US" dirty="0">
                          <a:solidFill>
                            <a:schemeClr val="dk1"/>
                          </a:solidFill>
                        </a:rPr>
                        <a:t>2021</a:t>
                      </a:r>
                      <a:endParaRPr dirty="0"/>
                    </a:p>
                  </a:txBody>
                  <a:tcPr marL="91425" marR="91425" marT="91425" marB="91425"/>
                </a:tc>
                <a:tc>
                  <a:txBody>
                    <a:bodyPr/>
                    <a:lstStyle/>
                    <a:p>
                      <a:pPr marL="0" lvl="0" indent="0" algn="l" rtl="0">
                        <a:spcBef>
                          <a:spcPts val="0"/>
                        </a:spcBef>
                        <a:spcAft>
                          <a:spcPts val="0"/>
                        </a:spcAft>
                        <a:buNone/>
                      </a:pPr>
                      <a:endParaRPr dirty="0">
                        <a:solidFill>
                          <a:schemeClr val="dk1"/>
                        </a:solidFill>
                      </a:endParaRPr>
                    </a:p>
                  </a:txBody>
                  <a:tcPr marL="91425" marR="91425" marT="91425" marB="91425"/>
                </a:tc>
                <a:tc>
                  <a:txBody>
                    <a:bodyPr/>
                    <a:lstStyle/>
                    <a:p>
                      <a:pPr marL="457200" lvl="0" indent="-317500" algn="l" rtl="0">
                        <a:spcBef>
                          <a:spcPts val="0"/>
                        </a:spcBef>
                        <a:spcAft>
                          <a:spcPts val="0"/>
                        </a:spcAft>
                        <a:buClr>
                          <a:schemeClr val="dk1"/>
                        </a:buClr>
                        <a:buSzPts val="1400"/>
                        <a:buChar char="●"/>
                      </a:pPr>
                      <a:r>
                        <a:rPr lang="en-US" b="1" dirty="0">
                          <a:solidFill>
                            <a:schemeClr val="dk1"/>
                          </a:solidFill>
                        </a:rPr>
                        <a:t>Dual-Mode Linear-to-Circular Polarization Conversion (LCP)</a:t>
                      </a:r>
                      <a:r>
                        <a:rPr lang="en-US" sz="1100" dirty="0">
                          <a:solidFill>
                            <a:schemeClr val="dk1"/>
                          </a:solidFill>
                        </a:rPr>
                        <a:t>:</a:t>
                      </a:r>
                      <a:r>
                        <a:rPr lang="en-US" dirty="0">
                          <a:solidFill>
                            <a:schemeClr val="dk1"/>
                          </a:solidFill>
                        </a:rPr>
                        <a:t>The metasurface is designed to achieve linear-to-circular polarization (LCP) conversion in both transmission and reflection modes simultaneously.</a:t>
                      </a:r>
                      <a:endParaRPr dirty="0">
                        <a:solidFill>
                          <a:schemeClr val="dk1"/>
                        </a:solidFill>
                      </a:endParaRPr>
                    </a:p>
                  </a:txBody>
                  <a:tcPr marL="91425" marR="91425" marT="91425" marB="91425"/>
                </a:tc>
                <a:extLst>
                  <a:ext uri="{0D108BD9-81ED-4DB2-BD59-A6C34878D82A}">
                    <a16:rowId xmlns:a16="http://schemas.microsoft.com/office/drawing/2014/main" val="10002"/>
                  </a:ext>
                </a:extLst>
              </a:tr>
            </a:tbl>
          </a:graphicData>
        </a:graphic>
      </p:graphicFrame>
      <p:pic>
        <p:nvPicPr>
          <p:cNvPr id="198" name="Google Shape;198;g2f7b04de720_0_22"/>
          <p:cNvPicPr preferRelativeResize="0"/>
          <p:nvPr/>
        </p:nvPicPr>
        <p:blipFill rotWithShape="1">
          <a:blip r:embed="rId6">
            <a:alphaModFix/>
          </a:blip>
          <a:srcRect l="11325" t="3496" r="19742" b="3505"/>
          <a:stretch/>
        </p:blipFill>
        <p:spPr>
          <a:xfrm>
            <a:off x="4879363" y="1374702"/>
            <a:ext cx="2347347" cy="2381221"/>
          </a:xfrm>
          <a:prstGeom prst="rect">
            <a:avLst/>
          </a:prstGeom>
          <a:noFill/>
          <a:ln>
            <a:noFill/>
          </a:ln>
        </p:spPr>
      </p:pic>
      <p:pic>
        <p:nvPicPr>
          <p:cNvPr id="199" name="Google Shape;199;g2f7b04de720_0_22"/>
          <p:cNvPicPr preferRelativeResize="0"/>
          <p:nvPr/>
        </p:nvPicPr>
        <p:blipFill>
          <a:blip r:embed="rId7">
            <a:alphaModFix/>
          </a:blip>
          <a:stretch>
            <a:fillRect/>
          </a:stretch>
        </p:blipFill>
        <p:spPr>
          <a:xfrm>
            <a:off x="4785475" y="4367631"/>
            <a:ext cx="2664150" cy="2061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3" name="Picture 2">
            <a:extLst>
              <a:ext uri="{FF2B5EF4-FFF2-40B4-BE49-F238E27FC236}">
                <a16:creationId xmlns:a16="http://schemas.microsoft.com/office/drawing/2014/main" id="{171A5F77-B984-E5B9-1A37-7F2779E69155}"/>
              </a:ext>
            </a:extLst>
          </p:cNvPr>
          <p:cNvPicPr>
            <a:picLocks noChangeAspect="1"/>
          </p:cNvPicPr>
          <p:nvPr/>
        </p:nvPicPr>
        <p:blipFill>
          <a:blip r:embed="rId3"/>
          <a:stretch>
            <a:fillRect/>
          </a:stretch>
        </p:blipFill>
        <p:spPr>
          <a:xfrm>
            <a:off x="0" y="1401558"/>
            <a:ext cx="12192000" cy="4054883"/>
          </a:xfrm>
          <a:prstGeom prst="rect">
            <a:avLst/>
          </a:prstGeom>
        </p:spPr>
      </p:pic>
    </p:spTree>
    <p:extLst>
      <p:ext uri="{BB962C8B-B14F-4D97-AF65-F5344CB8AC3E}">
        <p14:creationId xmlns:p14="http://schemas.microsoft.com/office/powerpoint/2010/main" val="3887653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8"/>
          <p:cNvSpPr txBox="1">
            <a:spLocks noGrp="1"/>
          </p:cNvSpPr>
          <p:nvPr>
            <p:ph type="sldNum" idx="12"/>
          </p:nvPr>
        </p:nvSpPr>
        <p:spPr>
          <a:xfrm>
            <a:off x="9448799" y="649287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205" name="Google Shape;205;p8"/>
          <p:cNvSpPr txBox="1"/>
          <p:nvPr/>
        </p:nvSpPr>
        <p:spPr>
          <a:xfrm>
            <a:off x="1000124" y="232275"/>
            <a:ext cx="10515600" cy="493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Montserrat"/>
                <a:ea typeface="Montserrat"/>
                <a:cs typeface="Montserrat"/>
                <a:sym typeface="Montserrat"/>
              </a:rPr>
              <a:t>Analysis - SWOT</a:t>
            </a:r>
            <a:endParaRPr sz="1400" b="0" i="0" u="none" strike="noStrike" cap="none">
              <a:solidFill>
                <a:srgbClr val="000000"/>
              </a:solidFill>
              <a:latin typeface="Arial"/>
              <a:ea typeface="Arial"/>
              <a:cs typeface="Arial"/>
              <a:sym typeface="Arial"/>
            </a:endParaRPr>
          </a:p>
        </p:txBody>
      </p:sp>
      <p:grpSp>
        <p:nvGrpSpPr>
          <p:cNvPr id="206" name="Google Shape;206;p8"/>
          <p:cNvGrpSpPr/>
          <p:nvPr/>
        </p:nvGrpSpPr>
        <p:grpSpPr>
          <a:xfrm>
            <a:off x="-320294" y="1087852"/>
            <a:ext cx="5821357" cy="2496176"/>
            <a:chOff x="1310550" y="421011"/>
            <a:chExt cx="2431035" cy="1872179"/>
          </a:xfrm>
        </p:grpSpPr>
        <p:sp>
          <p:nvSpPr>
            <p:cNvPr id="207" name="Google Shape;207;p8"/>
            <p:cNvSpPr/>
            <p:nvPr/>
          </p:nvSpPr>
          <p:spPr>
            <a:xfrm>
              <a:off x="2842986" y="1274077"/>
              <a:ext cx="898599" cy="431632"/>
            </a:xfrm>
            <a:custGeom>
              <a:avLst/>
              <a:gdLst/>
              <a:ahLst/>
              <a:cxnLst/>
              <a:rect l="l" t="t" r="r" b="b"/>
              <a:pathLst>
                <a:path w="52055" h="25004" fill="none" extrusionOk="0">
                  <a:moveTo>
                    <a:pt x="52055" y="25004"/>
                  </a:moveTo>
                  <a:lnTo>
                    <a:pt x="27052" y="1"/>
                  </a:lnTo>
                  <a:lnTo>
                    <a:pt x="1" y="1"/>
                  </a:lnTo>
                </a:path>
              </a:pathLst>
            </a:custGeom>
            <a:noFill/>
            <a:ln w="11025" cap="flat" cmpd="sng">
              <a:solidFill>
                <a:schemeClr val="accent6"/>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208" name="Google Shape;208;p8"/>
            <p:cNvGrpSpPr/>
            <p:nvPr/>
          </p:nvGrpSpPr>
          <p:grpSpPr>
            <a:xfrm>
              <a:off x="1310550" y="421011"/>
              <a:ext cx="2028796" cy="1872179"/>
              <a:chOff x="1310550" y="421011"/>
              <a:chExt cx="2028796" cy="1872179"/>
            </a:xfrm>
          </p:grpSpPr>
          <p:sp>
            <p:nvSpPr>
              <p:cNvPr id="209" name="Google Shape;209;p8"/>
              <p:cNvSpPr txBox="1"/>
              <p:nvPr/>
            </p:nvSpPr>
            <p:spPr>
              <a:xfrm>
                <a:off x="1454747" y="878990"/>
                <a:ext cx="1884600" cy="1414200"/>
              </a:xfrm>
              <a:prstGeom prst="rect">
                <a:avLst/>
              </a:prstGeom>
              <a:noFill/>
              <a:ln>
                <a:noFill/>
              </a:ln>
            </p:spPr>
            <p:txBody>
              <a:bodyPr spcFirstLastPara="1" wrap="square" lIns="121900" tIns="121900" rIns="121900" bIns="121900" anchor="ctr" anchorCtr="0">
                <a:noAutofit/>
              </a:bodyPr>
              <a:lstStyle/>
              <a:p>
                <a:pPr marL="0" marR="0" lvl="0" indent="0" algn="just" rtl="0">
                  <a:lnSpc>
                    <a:spcPct val="100000"/>
                  </a:lnSpc>
                  <a:spcBef>
                    <a:spcPts val="0"/>
                  </a:spcBef>
                  <a:spcAft>
                    <a:spcPts val="0"/>
                  </a:spcAft>
                  <a:buClr>
                    <a:srgbClr val="000000"/>
                  </a:buClr>
                  <a:buSzPts val="1600"/>
                  <a:buFont typeface="Arial"/>
                  <a:buNone/>
                </a:pPr>
                <a:r>
                  <a:rPr lang="en-US" sz="1600">
                    <a:solidFill>
                      <a:srgbClr val="434343"/>
                    </a:solidFill>
                    <a:latin typeface="Roboto"/>
                    <a:ea typeface="Roboto"/>
                    <a:cs typeface="Roboto"/>
                    <a:sym typeface="Roboto"/>
                  </a:rPr>
                  <a:t>0</a:t>
                </a:r>
                <a:r>
                  <a:rPr lang="en-US" sz="1600" b="0" i="0" u="none" strike="noStrike" cap="none">
                    <a:solidFill>
                      <a:srgbClr val="434343"/>
                    </a:solidFill>
                    <a:latin typeface="Roboto"/>
                    <a:ea typeface="Roboto"/>
                    <a:cs typeface="Roboto"/>
                    <a:sym typeface="Roboto"/>
                  </a:rPr>
                  <a:t>1. </a:t>
                </a:r>
                <a:r>
                  <a:rPr lang="en-US" sz="1600">
                    <a:solidFill>
                      <a:schemeClr val="dk1"/>
                    </a:solidFill>
                  </a:rPr>
                  <a:t>Wide Frequency Range</a:t>
                </a:r>
                <a:endParaRPr sz="1600"/>
              </a:p>
              <a:p>
                <a:pPr marL="0" marR="0" lvl="0" indent="0" algn="l" rtl="0">
                  <a:lnSpc>
                    <a:spcPct val="100000"/>
                  </a:lnSpc>
                  <a:spcBef>
                    <a:spcPts val="0"/>
                  </a:spcBef>
                  <a:spcAft>
                    <a:spcPts val="0"/>
                  </a:spcAft>
                  <a:buClr>
                    <a:srgbClr val="000000"/>
                  </a:buClr>
                  <a:buSzPts val="1600"/>
                  <a:buFont typeface="Arial"/>
                  <a:buNone/>
                </a:pPr>
                <a:r>
                  <a:rPr lang="en-US" sz="1600">
                    <a:solidFill>
                      <a:srgbClr val="434343"/>
                    </a:solidFill>
                    <a:latin typeface="Roboto"/>
                    <a:ea typeface="Roboto"/>
                    <a:cs typeface="Roboto"/>
                    <a:sym typeface="Roboto"/>
                  </a:rPr>
                  <a:t>0</a:t>
                </a:r>
                <a:r>
                  <a:rPr lang="en-US" sz="1600" i="0" u="none" strike="noStrike" cap="none">
                    <a:solidFill>
                      <a:srgbClr val="434343"/>
                    </a:solidFill>
                    <a:latin typeface="Roboto"/>
                    <a:ea typeface="Roboto"/>
                    <a:cs typeface="Roboto"/>
                    <a:sym typeface="Roboto"/>
                  </a:rPr>
                  <a:t>2. </a:t>
                </a:r>
                <a:r>
                  <a:rPr lang="en-US" sz="1600">
                    <a:solidFill>
                      <a:srgbClr val="434343"/>
                    </a:solidFill>
                    <a:latin typeface="Roboto"/>
                    <a:ea typeface="Roboto"/>
                    <a:cs typeface="Roboto"/>
                    <a:sym typeface="Roboto"/>
                  </a:rPr>
                  <a:t>Enhanced Compatibility with 5G</a:t>
                </a:r>
                <a:endParaRPr/>
              </a:p>
              <a:p>
                <a:pPr marL="0" marR="0" lvl="0" indent="0" algn="just" rtl="0">
                  <a:lnSpc>
                    <a:spcPct val="100000"/>
                  </a:lnSpc>
                  <a:spcBef>
                    <a:spcPts val="0"/>
                  </a:spcBef>
                  <a:spcAft>
                    <a:spcPts val="0"/>
                  </a:spcAft>
                  <a:buClr>
                    <a:srgbClr val="000000"/>
                  </a:buClr>
                  <a:buSzPts val="1600"/>
                  <a:buFont typeface="Arial"/>
                  <a:buNone/>
                </a:pPr>
                <a:r>
                  <a:rPr lang="en-US" sz="1600">
                    <a:solidFill>
                      <a:srgbClr val="434343"/>
                    </a:solidFill>
                    <a:latin typeface="Roboto"/>
                    <a:ea typeface="Roboto"/>
                    <a:cs typeface="Roboto"/>
                    <a:sym typeface="Roboto"/>
                  </a:rPr>
                  <a:t>0</a:t>
                </a:r>
                <a:r>
                  <a:rPr lang="en-US" sz="1600" b="0" i="0" u="none" strike="noStrike" cap="none">
                    <a:solidFill>
                      <a:srgbClr val="434343"/>
                    </a:solidFill>
                    <a:latin typeface="Roboto"/>
                    <a:ea typeface="Roboto"/>
                    <a:cs typeface="Roboto"/>
                    <a:sym typeface="Roboto"/>
                  </a:rPr>
                  <a:t>3. </a:t>
                </a:r>
                <a:r>
                  <a:rPr lang="en-US" sz="1600">
                    <a:solidFill>
                      <a:srgbClr val="434343"/>
                    </a:solidFill>
                    <a:latin typeface="Roboto"/>
                    <a:ea typeface="Roboto"/>
                    <a:cs typeface="Roboto"/>
                    <a:sym typeface="Roboto"/>
                  </a:rPr>
                  <a:t>Potential for Broad Impact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434343"/>
                  </a:solidFill>
                  <a:latin typeface="Roboto"/>
                  <a:ea typeface="Roboto"/>
                  <a:cs typeface="Roboto"/>
                  <a:sym typeface="Roboto"/>
                </a:endParaRPr>
              </a:p>
            </p:txBody>
          </p:sp>
          <p:sp>
            <p:nvSpPr>
              <p:cNvPr id="210" name="Google Shape;210;p8"/>
              <p:cNvSpPr txBox="1"/>
              <p:nvPr/>
            </p:nvSpPr>
            <p:spPr>
              <a:xfrm>
                <a:off x="1310550" y="421011"/>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267"/>
                  <a:buFont typeface="Arial"/>
                  <a:buNone/>
                </a:pPr>
                <a:r>
                  <a:rPr lang="en-US" sz="2267" b="1" i="0" u="none" strike="noStrike" cap="none">
                    <a:solidFill>
                      <a:schemeClr val="accent6"/>
                    </a:solidFill>
                    <a:latin typeface="Fira Sans Extra Condensed Medium"/>
                    <a:ea typeface="Fira Sans Extra Condensed Medium"/>
                    <a:cs typeface="Fira Sans Extra Condensed Medium"/>
                    <a:sym typeface="Fira Sans Extra Condensed Medium"/>
                  </a:rPr>
                  <a:t>Strengths</a:t>
                </a:r>
                <a:endParaRPr sz="2267" b="1" i="0" u="none" strike="noStrike" cap="none">
                  <a:solidFill>
                    <a:schemeClr val="accent6"/>
                  </a:solidFill>
                  <a:latin typeface="Fira Sans Extra Condensed Medium"/>
                  <a:ea typeface="Fira Sans Extra Condensed Medium"/>
                  <a:cs typeface="Fira Sans Extra Condensed Medium"/>
                  <a:sym typeface="Fira Sans Extra Condensed Medium"/>
                </a:endParaRPr>
              </a:p>
            </p:txBody>
          </p:sp>
        </p:grpSp>
      </p:grpSp>
      <p:grpSp>
        <p:nvGrpSpPr>
          <p:cNvPr id="211" name="Google Shape;211;p8"/>
          <p:cNvGrpSpPr/>
          <p:nvPr/>
        </p:nvGrpSpPr>
        <p:grpSpPr>
          <a:xfrm>
            <a:off x="6308289" y="990977"/>
            <a:ext cx="5672446" cy="2767982"/>
            <a:chOff x="4731337" y="1062506"/>
            <a:chExt cx="4254441" cy="1459521"/>
          </a:xfrm>
        </p:grpSpPr>
        <p:sp>
          <p:nvSpPr>
            <p:cNvPr id="212" name="Google Shape;212;p8"/>
            <p:cNvSpPr/>
            <p:nvPr/>
          </p:nvSpPr>
          <p:spPr>
            <a:xfrm>
              <a:off x="4731337" y="1925283"/>
              <a:ext cx="898599" cy="431632"/>
            </a:xfrm>
            <a:custGeom>
              <a:avLst/>
              <a:gdLst/>
              <a:ahLst/>
              <a:cxnLst/>
              <a:rect l="l" t="t" r="r" b="b"/>
              <a:pathLst>
                <a:path w="52055" h="25004" fill="none" extrusionOk="0">
                  <a:moveTo>
                    <a:pt x="0" y="25004"/>
                  </a:moveTo>
                  <a:lnTo>
                    <a:pt x="25003" y="1"/>
                  </a:lnTo>
                  <a:lnTo>
                    <a:pt x="52054" y="1"/>
                  </a:lnTo>
                </a:path>
              </a:pathLst>
            </a:custGeom>
            <a:noFill/>
            <a:ln w="11025" cap="flat" cmpd="sng">
              <a:solidFill>
                <a:schemeClr val="accent1"/>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213" name="Google Shape;213;p8"/>
            <p:cNvGrpSpPr/>
            <p:nvPr/>
          </p:nvGrpSpPr>
          <p:grpSpPr>
            <a:xfrm>
              <a:off x="5581677" y="1062506"/>
              <a:ext cx="3404100" cy="1459521"/>
              <a:chOff x="5581677" y="1062506"/>
              <a:chExt cx="3404100" cy="1459521"/>
            </a:xfrm>
          </p:grpSpPr>
          <p:sp>
            <p:nvSpPr>
              <p:cNvPr id="214" name="Google Shape;214;p8"/>
              <p:cNvSpPr txBox="1"/>
              <p:nvPr/>
            </p:nvSpPr>
            <p:spPr>
              <a:xfrm>
                <a:off x="6551742" y="1062506"/>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267"/>
                  <a:buFont typeface="Arial"/>
                  <a:buNone/>
                </a:pPr>
                <a:r>
                  <a:rPr lang="en-US" sz="2267" b="1" i="0" u="none" strike="noStrike" cap="none">
                    <a:solidFill>
                      <a:schemeClr val="accent1"/>
                    </a:solidFill>
                    <a:latin typeface="Fira Sans Extra Condensed Medium"/>
                    <a:ea typeface="Fira Sans Extra Condensed Medium"/>
                    <a:cs typeface="Fira Sans Extra Condensed Medium"/>
                    <a:sym typeface="Fira Sans Extra Condensed Medium"/>
                  </a:rPr>
                  <a:t>Weaknesses</a:t>
                </a:r>
                <a:endParaRPr sz="2267" b="1" i="0" u="none" strike="noStrike" cap="none">
                  <a:solidFill>
                    <a:schemeClr val="accent1"/>
                  </a:solidFill>
                  <a:latin typeface="Fira Sans Extra Condensed Medium"/>
                  <a:ea typeface="Fira Sans Extra Condensed Medium"/>
                  <a:cs typeface="Fira Sans Extra Condensed Medium"/>
                  <a:sym typeface="Fira Sans Extra Condensed Medium"/>
                </a:endParaRPr>
              </a:p>
            </p:txBody>
          </p:sp>
          <p:sp>
            <p:nvSpPr>
              <p:cNvPr id="215" name="Google Shape;215;p8"/>
              <p:cNvSpPr txBox="1"/>
              <p:nvPr/>
            </p:nvSpPr>
            <p:spPr>
              <a:xfrm>
                <a:off x="5581677" y="1411727"/>
                <a:ext cx="3404100" cy="11103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1600" dirty="0">
                    <a:solidFill>
                      <a:srgbClr val="434343"/>
                    </a:solidFill>
                    <a:latin typeface="Roboto"/>
                    <a:ea typeface="Roboto"/>
                    <a:cs typeface="Roboto"/>
                    <a:sym typeface="Roboto"/>
                  </a:rPr>
                  <a:t>0</a:t>
                </a:r>
                <a:r>
                  <a:rPr lang="en-US" sz="1600" b="0" i="0" u="none" strike="noStrike" cap="none" dirty="0">
                    <a:solidFill>
                      <a:srgbClr val="434343"/>
                    </a:solidFill>
                    <a:latin typeface="Roboto"/>
                    <a:ea typeface="Roboto"/>
                    <a:cs typeface="Roboto"/>
                    <a:sym typeface="Roboto"/>
                  </a:rPr>
                  <a:t>1. Narrow Operational Focus</a:t>
                </a:r>
                <a:endParaRPr dirty="0"/>
              </a:p>
              <a:p>
                <a:pPr marL="0" marR="0" lvl="0" indent="0" algn="l" rtl="0">
                  <a:lnSpc>
                    <a:spcPct val="100000"/>
                  </a:lnSpc>
                  <a:spcBef>
                    <a:spcPts val="0"/>
                  </a:spcBef>
                  <a:spcAft>
                    <a:spcPts val="0"/>
                  </a:spcAft>
                  <a:buNone/>
                </a:pPr>
                <a:r>
                  <a:rPr lang="en-US" sz="1600" dirty="0">
                    <a:solidFill>
                      <a:srgbClr val="434343"/>
                    </a:solidFill>
                    <a:latin typeface="Roboto"/>
                    <a:ea typeface="Roboto"/>
                    <a:cs typeface="Roboto"/>
                    <a:sym typeface="Roboto"/>
                  </a:rPr>
                  <a:t>02</a:t>
                </a:r>
                <a:r>
                  <a:rPr lang="en-US" sz="1600" b="0" i="0" u="none" strike="noStrike" cap="none" dirty="0">
                    <a:solidFill>
                      <a:srgbClr val="434343"/>
                    </a:solidFill>
                    <a:latin typeface="Roboto"/>
                    <a:ea typeface="Roboto"/>
                    <a:cs typeface="Roboto"/>
                    <a:sym typeface="Roboto"/>
                  </a:rPr>
                  <a:t>. </a:t>
                </a:r>
                <a:r>
                  <a:rPr lang="en-US" sz="1600" dirty="0">
                    <a:solidFill>
                      <a:srgbClr val="434343"/>
                    </a:solidFill>
                    <a:latin typeface="Roboto"/>
                    <a:ea typeface="Roboto"/>
                    <a:cs typeface="Roboto"/>
                    <a:sym typeface="Roboto"/>
                  </a:rPr>
                  <a:t>Dependency on Metasurface Performance</a:t>
                </a:r>
                <a:endParaRPr dirty="0"/>
              </a:p>
              <a:p>
                <a:pPr marL="0" marR="0" lvl="0" indent="0" algn="l" rtl="0">
                  <a:lnSpc>
                    <a:spcPct val="100000"/>
                  </a:lnSpc>
                  <a:spcBef>
                    <a:spcPts val="0"/>
                  </a:spcBef>
                  <a:spcAft>
                    <a:spcPts val="0"/>
                  </a:spcAft>
                  <a:buClr>
                    <a:srgbClr val="000000"/>
                  </a:buClr>
                  <a:buSzPts val="1600"/>
                  <a:buFont typeface="Arial"/>
                  <a:buNone/>
                </a:pPr>
                <a:endParaRPr dirty="0"/>
              </a:p>
            </p:txBody>
          </p:sp>
        </p:grpSp>
      </p:grpSp>
      <p:grpSp>
        <p:nvGrpSpPr>
          <p:cNvPr id="216" name="Google Shape;216;p8"/>
          <p:cNvGrpSpPr/>
          <p:nvPr/>
        </p:nvGrpSpPr>
        <p:grpSpPr>
          <a:xfrm>
            <a:off x="6689765" y="4026538"/>
            <a:ext cx="5434341" cy="1982227"/>
            <a:chOff x="4841395" y="3066603"/>
            <a:chExt cx="4126303" cy="1486708"/>
          </a:xfrm>
        </p:grpSpPr>
        <p:sp>
          <p:nvSpPr>
            <p:cNvPr id="217" name="Google Shape;217;p8"/>
            <p:cNvSpPr/>
            <p:nvPr/>
          </p:nvSpPr>
          <p:spPr>
            <a:xfrm>
              <a:off x="4841395" y="3381901"/>
              <a:ext cx="898599" cy="431632"/>
            </a:xfrm>
            <a:custGeom>
              <a:avLst/>
              <a:gdLst/>
              <a:ahLst/>
              <a:cxnLst/>
              <a:rect l="l" t="t" r="r" b="b"/>
              <a:pathLst>
                <a:path w="52055" h="25004" fill="none" extrusionOk="0">
                  <a:moveTo>
                    <a:pt x="0" y="1"/>
                  </a:moveTo>
                  <a:lnTo>
                    <a:pt x="25003" y="25004"/>
                  </a:lnTo>
                  <a:lnTo>
                    <a:pt x="52054" y="25004"/>
                  </a:lnTo>
                </a:path>
              </a:pathLst>
            </a:custGeom>
            <a:noFill/>
            <a:ln w="11025" cap="flat" cmpd="sng">
              <a:solidFill>
                <a:schemeClr val="accent5"/>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218" name="Google Shape;218;p8"/>
            <p:cNvGrpSpPr/>
            <p:nvPr/>
          </p:nvGrpSpPr>
          <p:grpSpPr>
            <a:xfrm>
              <a:off x="5739998" y="3066603"/>
              <a:ext cx="3227700" cy="1486708"/>
              <a:chOff x="5739998" y="3066603"/>
              <a:chExt cx="3227700" cy="1486708"/>
            </a:xfrm>
          </p:grpSpPr>
          <p:sp>
            <p:nvSpPr>
              <p:cNvPr id="219" name="Google Shape;219;p8"/>
              <p:cNvSpPr txBox="1"/>
              <p:nvPr/>
            </p:nvSpPr>
            <p:spPr>
              <a:xfrm>
                <a:off x="6524669" y="3066603"/>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267"/>
                  <a:buFont typeface="Arial"/>
                  <a:buNone/>
                </a:pPr>
                <a:r>
                  <a:rPr lang="en-US" sz="2267" b="1" i="0" u="none" strike="noStrike" cap="none">
                    <a:solidFill>
                      <a:schemeClr val="accent5"/>
                    </a:solidFill>
                    <a:latin typeface="Fira Sans Extra Condensed Medium"/>
                    <a:ea typeface="Fira Sans Extra Condensed Medium"/>
                    <a:cs typeface="Fira Sans Extra Condensed Medium"/>
                    <a:sym typeface="Fira Sans Extra Condensed Medium"/>
                  </a:rPr>
                  <a:t>Threats</a:t>
                </a:r>
                <a:endParaRPr sz="2267" b="1" i="0" u="none" strike="noStrike" cap="none">
                  <a:solidFill>
                    <a:schemeClr val="accent5"/>
                  </a:solidFill>
                  <a:latin typeface="Fira Sans Extra Condensed Medium"/>
                  <a:ea typeface="Fira Sans Extra Condensed Medium"/>
                  <a:cs typeface="Fira Sans Extra Condensed Medium"/>
                  <a:sym typeface="Fira Sans Extra Condensed Medium"/>
                </a:endParaRPr>
              </a:p>
            </p:txBody>
          </p:sp>
          <p:sp>
            <p:nvSpPr>
              <p:cNvPr id="220" name="Google Shape;220;p8"/>
              <p:cNvSpPr txBox="1"/>
              <p:nvPr/>
            </p:nvSpPr>
            <p:spPr>
              <a:xfrm>
                <a:off x="5739998" y="3527611"/>
                <a:ext cx="3227700" cy="10257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a:solidFill>
                      <a:srgbClr val="434343"/>
                    </a:solidFill>
                    <a:latin typeface="Roboto"/>
                    <a:ea typeface="Roboto"/>
                    <a:cs typeface="Roboto"/>
                    <a:sym typeface="Roboto"/>
                  </a:rPr>
                  <a:t>0</a:t>
                </a:r>
                <a:r>
                  <a:rPr lang="en-US" sz="1600" b="0" i="0" u="none" strike="noStrike" cap="none">
                    <a:solidFill>
                      <a:srgbClr val="434343"/>
                    </a:solidFill>
                    <a:latin typeface="Roboto"/>
                    <a:ea typeface="Roboto"/>
                    <a:cs typeface="Roboto"/>
                    <a:sym typeface="Roboto"/>
                  </a:rPr>
                  <a:t>1. </a:t>
                </a:r>
                <a:r>
                  <a:rPr lang="en-US" sz="1600">
                    <a:solidFill>
                      <a:srgbClr val="434343"/>
                    </a:solidFill>
                    <a:latin typeface="Roboto"/>
                    <a:ea typeface="Roboto"/>
                    <a:cs typeface="Roboto"/>
                    <a:sym typeface="Roboto"/>
                  </a:rPr>
                  <a:t>Environmental Sensitivity             </a:t>
                </a:r>
                <a:endParaRPr sz="1600" b="0" i="0" u="none" strike="noStrike" cap="none">
                  <a:solidFill>
                    <a:srgbClr val="434343"/>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600"/>
                  <a:buFont typeface="Arial"/>
                  <a:buNone/>
                </a:pPr>
                <a:r>
                  <a:rPr lang="en-US" sz="1600">
                    <a:solidFill>
                      <a:srgbClr val="434343"/>
                    </a:solidFill>
                    <a:latin typeface="Roboto"/>
                    <a:ea typeface="Roboto"/>
                    <a:cs typeface="Roboto"/>
                    <a:sym typeface="Roboto"/>
                  </a:rPr>
                  <a:t>0</a:t>
                </a:r>
                <a:r>
                  <a:rPr lang="en-US" sz="1600" b="0" i="0" u="none" strike="noStrike" cap="none">
                    <a:solidFill>
                      <a:srgbClr val="434343"/>
                    </a:solidFill>
                    <a:latin typeface="Roboto"/>
                    <a:ea typeface="Roboto"/>
                    <a:cs typeface="Roboto"/>
                    <a:sym typeface="Roboto"/>
                  </a:rPr>
                  <a:t>2. </a:t>
                </a:r>
                <a:r>
                  <a:rPr lang="en-US" sz="1600">
                    <a:solidFill>
                      <a:srgbClr val="434343"/>
                    </a:solidFill>
                    <a:latin typeface="Roboto"/>
                    <a:ea typeface="Roboto"/>
                    <a:cs typeface="Roboto"/>
                    <a:sym typeface="Roboto"/>
                  </a:rPr>
                  <a:t>Manufacturing  challenges</a:t>
                </a:r>
                <a:endParaRPr sz="1600" b="0" i="0" u="none" strike="noStrike" cap="none">
                  <a:solidFill>
                    <a:srgbClr val="434343"/>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434343"/>
                  </a:solidFill>
                  <a:latin typeface="Roboto"/>
                  <a:ea typeface="Roboto"/>
                  <a:cs typeface="Roboto"/>
                  <a:sym typeface="Roboto"/>
                </a:endParaRPr>
              </a:p>
            </p:txBody>
          </p:sp>
        </p:grpSp>
      </p:grpSp>
      <p:grpSp>
        <p:nvGrpSpPr>
          <p:cNvPr id="221" name="Google Shape;221;p8"/>
          <p:cNvGrpSpPr/>
          <p:nvPr/>
        </p:nvGrpSpPr>
        <p:grpSpPr>
          <a:xfrm>
            <a:off x="213100" y="4498049"/>
            <a:ext cx="4975476" cy="2109241"/>
            <a:chOff x="892757" y="3168878"/>
            <a:chExt cx="3731700" cy="1581970"/>
          </a:xfrm>
        </p:grpSpPr>
        <p:sp>
          <p:nvSpPr>
            <p:cNvPr id="222" name="Google Shape;222;p8"/>
            <p:cNvSpPr/>
            <p:nvPr/>
          </p:nvSpPr>
          <p:spPr>
            <a:xfrm>
              <a:off x="3678935" y="3752480"/>
              <a:ext cx="898599" cy="431632"/>
            </a:xfrm>
            <a:custGeom>
              <a:avLst/>
              <a:gdLst/>
              <a:ahLst/>
              <a:cxnLst/>
              <a:rect l="l" t="t" r="r" b="b"/>
              <a:pathLst>
                <a:path w="52055" h="25004" fill="none" extrusionOk="0">
                  <a:moveTo>
                    <a:pt x="52055" y="1"/>
                  </a:moveTo>
                  <a:lnTo>
                    <a:pt x="27052" y="25004"/>
                  </a:lnTo>
                  <a:lnTo>
                    <a:pt x="1" y="25004"/>
                  </a:lnTo>
                </a:path>
              </a:pathLst>
            </a:custGeom>
            <a:noFill/>
            <a:ln w="11025" cap="flat" cmpd="sng">
              <a:solidFill>
                <a:srgbClr val="4949E7"/>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223" name="Google Shape;223;p8"/>
            <p:cNvGrpSpPr/>
            <p:nvPr/>
          </p:nvGrpSpPr>
          <p:grpSpPr>
            <a:xfrm>
              <a:off x="892757" y="3168878"/>
              <a:ext cx="3731700" cy="1581970"/>
              <a:chOff x="892757" y="3168878"/>
              <a:chExt cx="3731700" cy="1581970"/>
            </a:xfrm>
          </p:grpSpPr>
          <p:sp>
            <p:nvSpPr>
              <p:cNvPr id="224" name="Google Shape;224;p8"/>
              <p:cNvSpPr txBox="1"/>
              <p:nvPr/>
            </p:nvSpPr>
            <p:spPr>
              <a:xfrm>
                <a:off x="1648349" y="3168878"/>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267"/>
                  <a:buFont typeface="Arial"/>
                  <a:buNone/>
                </a:pPr>
                <a:r>
                  <a:rPr lang="en-US" sz="2267" b="1" i="0" u="none" strike="noStrike" cap="none">
                    <a:solidFill>
                      <a:schemeClr val="accent4"/>
                    </a:solidFill>
                    <a:latin typeface="Fira Sans Extra Condensed Medium"/>
                    <a:ea typeface="Fira Sans Extra Condensed Medium"/>
                    <a:cs typeface="Fira Sans Extra Condensed Medium"/>
                    <a:sym typeface="Fira Sans Extra Condensed Medium"/>
                  </a:rPr>
                  <a:t>Opportunities</a:t>
                </a:r>
                <a:endParaRPr sz="2267" b="1" i="0" u="none" strike="noStrike" cap="none">
                  <a:solidFill>
                    <a:schemeClr val="accent4"/>
                  </a:solidFill>
                  <a:latin typeface="Fira Sans Extra Condensed Medium"/>
                  <a:ea typeface="Fira Sans Extra Condensed Medium"/>
                  <a:cs typeface="Fira Sans Extra Condensed Medium"/>
                  <a:sym typeface="Fira Sans Extra Condensed Medium"/>
                </a:endParaRPr>
              </a:p>
            </p:txBody>
          </p:sp>
          <p:sp>
            <p:nvSpPr>
              <p:cNvPr id="225" name="Google Shape;225;p8"/>
              <p:cNvSpPr txBox="1"/>
              <p:nvPr/>
            </p:nvSpPr>
            <p:spPr>
              <a:xfrm>
                <a:off x="892757" y="3725148"/>
                <a:ext cx="3731700" cy="1025700"/>
              </a:xfrm>
              <a:prstGeom prst="rect">
                <a:avLst/>
              </a:prstGeom>
              <a:noFill/>
              <a:ln>
                <a:noFill/>
              </a:ln>
            </p:spPr>
            <p:txBody>
              <a:bodyPr spcFirstLastPara="1" wrap="square" lIns="121900" tIns="121900" rIns="121900" bIns="121900" anchor="ctr" anchorCtr="0">
                <a:noAutofit/>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434343"/>
                    </a:solidFill>
                    <a:latin typeface="Roboto"/>
                    <a:ea typeface="Roboto"/>
                    <a:cs typeface="Roboto"/>
                    <a:sym typeface="Roboto"/>
                  </a:rPr>
                  <a:t>O1. </a:t>
                </a:r>
                <a:r>
                  <a:rPr lang="en-US" sz="1600">
                    <a:solidFill>
                      <a:srgbClr val="434343"/>
                    </a:solidFill>
                    <a:latin typeface="Roboto"/>
                    <a:ea typeface="Roboto"/>
                    <a:cs typeface="Roboto"/>
                    <a:sym typeface="Roboto"/>
                  </a:rPr>
                  <a:t>Expanding to Multiband Systems</a:t>
                </a:r>
                <a:endParaRPr sz="1600" b="0" i="0" u="none" strike="noStrike" cap="none">
                  <a:solidFill>
                    <a:srgbClr val="434343"/>
                  </a:solidFill>
                  <a:latin typeface="Roboto"/>
                  <a:ea typeface="Roboto"/>
                  <a:cs typeface="Roboto"/>
                  <a:sym typeface="Roboto"/>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434343"/>
                    </a:solidFill>
                    <a:latin typeface="Roboto"/>
                    <a:ea typeface="Roboto"/>
                    <a:cs typeface="Roboto"/>
                    <a:sym typeface="Roboto"/>
                  </a:rPr>
                  <a:t>02. </a:t>
                </a:r>
                <a:r>
                  <a:rPr lang="en-US" sz="1600">
                    <a:solidFill>
                      <a:srgbClr val="434343"/>
                    </a:solidFill>
                    <a:latin typeface="Roboto"/>
                    <a:ea typeface="Roboto"/>
                    <a:cs typeface="Roboto"/>
                    <a:sym typeface="Roboto"/>
                  </a:rPr>
                  <a:t>Collaboration with Industry</a:t>
                </a:r>
                <a:endParaRPr sz="1600" b="0" i="0" u="none" strike="noStrike" cap="none">
                  <a:solidFill>
                    <a:srgbClr val="434343"/>
                  </a:solidFill>
                  <a:latin typeface="Roboto"/>
                  <a:ea typeface="Roboto"/>
                  <a:cs typeface="Roboto"/>
                  <a:sym typeface="Roboto"/>
                </a:endParaRPr>
              </a:p>
              <a:p>
                <a:pPr marL="0" marR="0" lvl="0" indent="0" algn="just" rtl="0">
                  <a:lnSpc>
                    <a:spcPct val="100000"/>
                  </a:lnSpc>
                  <a:spcBef>
                    <a:spcPts val="0"/>
                  </a:spcBef>
                  <a:spcAft>
                    <a:spcPts val="0"/>
                  </a:spcAft>
                  <a:buClr>
                    <a:srgbClr val="000000"/>
                  </a:buClr>
                  <a:buSzPts val="1600"/>
                  <a:buFont typeface="Arial"/>
                  <a:buNone/>
                </a:pP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434343"/>
                  </a:solidFill>
                  <a:latin typeface="Roboto"/>
                  <a:ea typeface="Roboto"/>
                  <a:cs typeface="Roboto"/>
                  <a:sym typeface="Roboto"/>
                </a:endParaRPr>
              </a:p>
            </p:txBody>
          </p:sp>
        </p:grpSp>
      </p:grpSp>
      <p:grpSp>
        <p:nvGrpSpPr>
          <p:cNvPr id="226" name="Google Shape;226;p8"/>
          <p:cNvGrpSpPr/>
          <p:nvPr/>
        </p:nvGrpSpPr>
        <p:grpSpPr>
          <a:xfrm>
            <a:off x="3573498" y="1912734"/>
            <a:ext cx="3978713" cy="3824266"/>
            <a:chOff x="4685401" y="2674734"/>
            <a:chExt cx="3978713" cy="3824266"/>
          </a:xfrm>
        </p:grpSpPr>
        <p:grpSp>
          <p:nvGrpSpPr>
            <p:cNvPr id="227" name="Google Shape;227;p8"/>
            <p:cNvGrpSpPr/>
            <p:nvPr/>
          </p:nvGrpSpPr>
          <p:grpSpPr>
            <a:xfrm>
              <a:off x="4685401" y="2674734"/>
              <a:ext cx="3978713" cy="3824266"/>
              <a:chOff x="4075801" y="1760334"/>
              <a:chExt cx="3978713" cy="3824266"/>
            </a:xfrm>
          </p:grpSpPr>
          <p:sp>
            <p:nvSpPr>
              <p:cNvPr id="228" name="Google Shape;228;p8"/>
              <p:cNvSpPr/>
              <p:nvPr/>
            </p:nvSpPr>
            <p:spPr>
              <a:xfrm>
                <a:off x="4075801" y="1760334"/>
                <a:ext cx="3978713" cy="3824266"/>
              </a:xfrm>
              <a:custGeom>
                <a:avLst/>
                <a:gdLst/>
                <a:ahLst/>
                <a:cxnLst/>
                <a:rect l="l" t="t" r="r" b="b"/>
                <a:pathLst>
                  <a:path w="172856" h="166146" extrusionOk="0">
                    <a:moveTo>
                      <a:pt x="86429" y="0"/>
                    </a:moveTo>
                    <a:cubicBezTo>
                      <a:pt x="77617" y="0"/>
                      <a:pt x="68807" y="3355"/>
                      <a:pt x="62104" y="10064"/>
                    </a:cubicBezTo>
                    <a:cubicBezTo>
                      <a:pt x="48673" y="23494"/>
                      <a:pt x="26837" y="45318"/>
                      <a:pt x="13419" y="58749"/>
                    </a:cubicBezTo>
                    <a:cubicBezTo>
                      <a:pt x="1" y="72167"/>
                      <a:pt x="1" y="93991"/>
                      <a:pt x="13419" y="107409"/>
                    </a:cubicBezTo>
                    <a:cubicBezTo>
                      <a:pt x="26837" y="120828"/>
                      <a:pt x="48673" y="142664"/>
                      <a:pt x="62092" y="156082"/>
                    </a:cubicBezTo>
                    <a:cubicBezTo>
                      <a:pt x="68801" y="162791"/>
                      <a:pt x="77614" y="166146"/>
                      <a:pt x="86428" y="166146"/>
                    </a:cubicBezTo>
                    <a:cubicBezTo>
                      <a:pt x="95242" y="166146"/>
                      <a:pt x="104055" y="162791"/>
                      <a:pt x="110764" y="156082"/>
                    </a:cubicBezTo>
                    <a:cubicBezTo>
                      <a:pt x="124183" y="142664"/>
                      <a:pt x="146019" y="120828"/>
                      <a:pt x="159437" y="107409"/>
                    </a:cubicBezTo>
                    <a:cubicBezTo>
                      <a:pt x="172855" y="93991"/>
                      <a:pt x="172855" y="72155"/>
                      <a:pt x="159437" y="58737"/>
                    </a:cubicBezTo>
                    <a:cubicBezTo>
                      <a:pt x="146019" y="45318"/>
                      <a:pt x="124183" y="23482"/>
                      <a:pt x="110764" y="10064"/>
                    </a:cubicBezTo>
                    <a:cubicBezTo>
                      <a:pt x="104055" y="3355"/>
                      <a:pt x="95242" y="0"/>
                      <a:pt x="86429" y="0"/>
                    </a:cubicBezTo>
                    <a:close/>
                  </a:path>
                </a:pathLst>
              </a:cu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229" name="Google Shape;229;p8"/>
              <p:cNvGrpSpPr/>
              <p:nvPr/>
            </p:nvGrpSpPr>
            <p:grpSpPr>
              <a:xfrm>
                <a:off x="4273832" y="1959046"/>
                <a:ext cx="3582661" cy="3426983"/>
                <a:chOff x="3205454" y="1469321"/>
                <a:chExt cx="2687063" cy="2570302"/>
              </a:xfrm>
            </p:grpSpPr>
            <p:sp>
              <p:nvSpPr>
                <p:cNvPr id="230" name="Google Shape;230;p8"/>
                <p:cNvSpPr/>
                <p:nvPr/>
              </p:nvSpPr>
              <p:spPr>
                <a:xfrm>
                  <a:off x="3205454" y="1964889"/>
                  <a:ext cx="683612" cy="1582609"/>
                </a:xfrm>
                <a:custGeom>
                  <a:avLst/>
                  <a:gdLst/>
                  <a:ahLst/>
                  <a:cxnLst/>
                  <a:rect l="l" t="t" r="r" b="b"/>
                  <a:pathLst>
                    <a:path w="39601" h="91679" extrusionOk="0">
                      <a:moveTo>
                        <a:pt x="34719" y="0"/>
                      </a:moveTo>
                      <a:lnTo>
                        <a:pt x="13538" y="21193"/>
                      </a:lnTo>
                      <a:cubicBezTo>
                        <a:pt x="1" y="34731"/>
                        <a:pt x="1" y="56745"/>
                        <a:pt x="13538" y="70283"/>
                      </a:cubicBezTo>
                      <a:lnTo>
                        <a:pt x="34922" y="91678"/>
                      </a:lnTo>
                      <a:lnTo>
                        <a:pt x="39601" y="86999"/>
                      </a:lnTo>
                      <a:cubicBezTo>
                        <a:pt x="31909" y="79307"/>
                        <a:pt x="24075" y="71473"/>
                        <a:pt x="18205" y="65603"/>
                      </a:cubicBezTo>
                      <a:cubicBezTo>
                        <a:pt x="7252" y="54650"/>
                        <a:pt x="7252" y="36826"/>
                        <a:pt x="18205" y="25872"/>
                      </a:cubicBezTo>
                      <a:lnTo>
                        <a:pt x="39399" y="4679"/>
                      </a:lnTo>
                      <a:lnTo>
                        <a:pt x="34719" y="0"/>
                      </a:lnTo>
                      <a:close/>
                    </a:path>
                  </a:pathLst>
                </a:custGeom>
                <a:solidFill>
                  <a:srgbClr val="2020BA"/>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31" name="Google Shape;231;p8"/>
                <p:cNvSpPr/>
                <p:nvPr/>
              </p:nvSpPr>
              <p:spPr>
                <a:xfrm>
                  <a:off x="3804826" y="1469321"/>
                  <a:ext cx="1537191" cy="625230"/>
                </a:xfrm>
                <a:custGeom>
                  <a:avLst/>
                  <a:gdLst/>
                  <a:ahLst/>
                  <a:cxnLst/>
                  <a:rect l="l" t="t" r="r" b="b"/>
                  <a:pathLst>
                    <a:path w="89048" h="36219" extrusionOk="0">
                      <a:moveTo>
                        <a:pt x="43101" y="0"/>
                      </a:moveTo>
                      <a:cubicBezTo>
                        <a:pt x="33826" y="0"/>
                        <a:pt x="25111" y="3608"/>
                        <a:pt x="18562" y="10156"/>
                      </a:cubicBezTo>
                      <a:lnTo>
                        <a:pt x="0" y="28706"/>
                      </a:lnTo>
                      <a:lnTo>
                        <a:pt x="4680" y="33385"/>
                      </a:lnTo>
                      <a:cubicBezTo>
                        <a:pt x="11430" y="26634"/>
                        <a:pt x="18086" y="19979"/>
                        <a:pt x="23229" y="14823"/>
                      </a:cubicBezTo>
                      <a:cubicBezTo>
                        <a:pt x="28712" y="9347"/>
                        <a:pt x="35910" y="6608"/>
                        <a:pt x="43105" y="6608"/>
                      </a:cubicBezTo>
                      <a:cubicBezTo>
                        <a:pt x="50301" y="6608"/>
                        <a:pt x="57496" y="9347"/>
                        <a:pt x="62973" y="14823"/>
                      </a:cubicBezTo>
                      <a:lnTo>
                        <a:pt x="84368" y="36219"/>
                      </a:lnTo>
                      <a:lnTo>
                        <a:pt x="89047" y="31540"/>
                      </a:lnTo>
                      <a:lnTo>
                        <a:pt x="67652" y="10156"/>
                      </a:lnTo>
                      <a:cubicBezTo>
                        <a:pt x="61103" y="3608"/>
                        <a:pt x="52388" y="0"/>
                        <a:pt x="43101" y="0"/>
                      </a:cubicBezTo>
                      <a:close/>
                    </a:path>
                  </a:pathLst>
                </a:custGeom>
                <a:solidFill>
                  <a:srgbClr val="C6282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32" name="Google Shape;232;p8"/>
                <p:cNvSpPr/>
                <p:nvPr/>
              </p:nvSpPr>
              <p:spPr>
                <a:xfrm>
                  <a:off x="5257602" y="2013797"/>
                  <a:ext cx="634915" cy="1484575"/>
                </a:xfrm>
                <a:custGeom>
                  <a:avLst/>
                  <a:gdLst/>
                  <a:ahLst/>
                  <a:cxnLst/>
                  <a:rect l="l" t="t" r="r" b="b"/>
                  <a:pathLst>
                    <a:path w="36780" h="86000" extrusionOk="0">
                      <a:moveTo>
                        <a:pt x="4894" y="1"/>
                      </a:moveTo>
                      <a:lnTo>
                        <a:pt x="215" y="4680"/>
                      </a:lnTo>
                      <a:lnTo>
                        <a:pt x="18563" y="23027"/>
                      </a:lnTo>
                      <a:cubicBezTo>
                        <a:pt x="29516" y="33981"/>
                        <a:pt x="29516" y="51817"/>
                        <a:pt x="18563" y="62770"/>
                      </a:cubicBezTo>
                      <a:cubicBezTo>
                        <a:pt x="13419" y="67914"/>
                        <a:pt x="6752" y="74569"/>
                        <a:pt x="1" y="81320"/>
                      </a:cubicBezTo>
                      <a:lnTo>
                        <a:pt x="4680" y="85999"/>
                      </a:lnTo>
                      <a:lnTo>
                        <a:pt x="23242" y="67450"/>
                      </a:lnTo>
                      <a:cubicBezTo>
                        <a:pt x="36779" y="53912"/>
                        <a:pt x="36779" y="31886"/>
                        <a:pt x="23242" y="18348"/>
                      </a:cubicBezTo>
                      <a:lnTo>
                        <a:pt x="4894" y="1"/>
                      </a:lnTo>
                      <a:close/>
                    </a:path>
                  </a:pathLst>
                </a:custGeom>
                <a:solidFill>
                  <a:srgbClr val="4685B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33" name="Google Shape;233;p8"/>
                <p:cNvSpPr/>
                <p:nvPr/>
              </p:nvSpPr>
              <p:spPr>
                <a:xfrm>
                  <a:off x="3808313" y="3417672"/>
                  <a:ext cx="1529993" cy="621951"/>
                </a:xfrm>
                <a:custGeom>
                  <a:avLst/>
                  <a:gdLst/>
                  <a:ahLst/>
                  <a:cxnLst/>
                  <a:rect l="l" t="t" r="r" b="b"/>
                  <a:pathLst>
                    <a:path w="88631" h="36029" extrusionOk="0">
                      <a:moveTo>
                        <a:pt x="83952" y="0"/>
                      </a:moveTo>
                      <a:cubicBezTo>
                        <a:pt x="76332" y="7632"/>
                        <a:pt x="68581" y="15383"/>
                        <a:pt x="62771" y="21193"/>
                      </a:cubicBezTo>
                      <a:cubicBezTo>
                        <a:pt x="57294" y="26670"/>
                        <a:pt x="50096" y="29409"/>
                        <a:pt x="42899" y="29409"/>
                      </a:cubicBezTo>
                      <a:cubicBezTo>
                        <a:pt x="35702" y="29409"/>
                        <a:pt x="28504" y="26670"/>
                        <a:pt x="23027" y="21193"/>
                      </a:cubicBezTo>
                      <a:cubicBezTo>
                        <a:pt x="17943" y="16098"/>
                        <a:pt x="11359" y="9525"/>
                        <a:pt x="4680" y="2846"/>
                      </a:cubicBezTo>
                      <a:lnTo>
                        <a:pt x="1" y="7525"/>
                      </a:lnTo>
                      <a:lnTo>
                        <a:pt x="18348" y="25873"/>
                      </a:lnTo>
                      <a:cubicBezTo>
                        <a:pt x="24897" y="32421"/>
                        <a:pt x="33612" y="36029"/>
                        <a:pt x="42899" y="36029"/>
                      </a:cubicBezTo>
                      <a:cubicBezTo>
                        <a:pt x="52186" y="36029"/>
                        <a:pt x="60901" y="32421"/>
                        <a:pt x="67450" y="25873"/>
                      </a:cubicBezTo>
                      <a:lnTo>
                        <a:pt x="88631" y="4679"/>
                      </a:lnTo>
                      <a:lnTo>
                        <a:pt x="83952" y="0"/>
                      </a:lnTo>
                      <a:close/>
                    </a:path>
                  </a:pathLst>
                </a:custGeom>
                <a:solidFill>
                  <a:srgbClr val="E0921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234" name="Google Shape;234;p8"/>
              <p:cNvGrpSpPr/>
              <p:nvPr/>
            </p:nvGrpSpPr>
            <p:grpSpPr>
              <a:xfrm>
                <a:off x="4810716" y="3672402"/>
                <a:ext cx="1254262" cy="1254285"/>
                <a:chOff x="3608126" y="2754370"/>
                <a:chExt cx="940720" cy="940737"/>
              </a:xfrm>
            </p:grpSpPr>
            <p:sp>
              <p:nvSpPr>
                <p:cNvPr id="235" name="Google Shape;235;p8"/>
                <p:cNvSpPr/>
                <p:nvPr/>
              </p:nvSpPr>
              <p:spPr>
                <a:xfrm>
                  <a:off x="3608126" y="2754370"/>
                  <a:ext cx="940720" cy="940737"/>
                </a:xfrm>
                <a:custGeom>
                  <a:avLst/>
                  <a:gdLst/>
                  <a:ahLst/>
                  <a:cxnLst/>
                  <a:rect l="l" t="t" r="r" b="b"/>
                  <a:pathLst>
                    <a:path w="54495" h="54496" extrusionOk="0">
                      <a:moveTo>
                        <a:pt x="27242" y="1"/>
                      </a:moveTo>
                      <a:cubicBezTo>
                        <a:pt x="12216" y="1"/>
                        <a:pt x="0" y="12229"/>
                        <a:pt x="0" y="27254"/>
                      </a:cubicBezTo>
                      <a:cubicBezTo>
                        <a:pt x="0" y="42280"/>
                        <a:pt x="12216" y="54496"/>
                        <a:pt x="27242" y="54496"/>
                      </a:cubicBezTo>
                      <a:cubicBezTo>
                        <a:pt x="42267" y="54496"/>
                        <a:pt x="54495" y="42280"/>
                        <a:pt x="54495" y="27254"/>
                      </a:cubicBezTo>
                      <a:lnTo>
                        <a:pt x="54495" y="1"/>
                      </a:ln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36" name="Google Shape;236;p8"/>
                <p:cNvSpPr/>
                <p:nvPr/>
              </p:nvSpPr>
              <p:spPr>
                <a:xfrm>
                  <a:off x="3775219" y="2921482"/>
                  <a:ext cx="606552" cy="606535"/>
                </a:xfrm>
                <a:custGeom>
                  <a:avLst/>
                  <a:gdLst/>
                  <a:ahLst/>
                  <a:cxnLst/>
                  <a:rect l="l" t="t" r="r" b="b"/>
                  <a:pathLst>
                    <a:path w="35137" h="35136" extrusionOk="0">
                      <a:moveTo>
                        <a:pt x="17563" y="1"/>
                      </a:moveTo>
                      <a:cubicBezTo>
                        <a:pt x="7883" y="1"/>
                        <a:pt x="1" y="7883"/>
                        <a:pt x="1" y="17574"/>
                      </a:cubicBezTo>
                      <a:cubicBezTo>
                        <a:pt x="1" y="27254"/>
                        <a:pt x="7883" y="35136"/>
                        <a:pt x="17563" y="35136"/>
                      </a:cubicBezTo>
                      <a:cubicBezTo>
                        <a:pt x="27254" y="35136"/>
                        <a:pt x="35136" y="27254"/>
                        <a:pt x="35136" y="17574"/>
                      </a:cubicBezTo>
                      <a:lnTo>
                        <a:pt x="35136" y="1"/>
                      </a:ln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237" name="Google Shape;237;p8"/>
              <p:cNvSpPr/>
              <p:nvPr/>
            </p:nvSpPr>
            <p:spPr>
              <a:xfrm>
                <a:off x="5174497" y="4091885"/>
                <a:ext cx="489214" cy="412128"/>
              </a:xfrm>
              <a:custGeom>
                <a:avLst/>
                <a:gdLst/>
                <a:ahLst/>
                <a:cxnLst/>
                <a:rect l="l" t="t" r="r" b="b"/>
                <a:pathLst>
                  <a:path w="21254" h="17905" extrusionOk="0">
                    <a:moveTo>
                      <a:pt x="12276" y="4022"/>
                    </a:moveTo>
                    <a:lnTo>
                      <a:pt x="11824" y="11761"/>
                    </a:lnTo>
                    <a:lnTo>
                      <a:pt x="9430" y="11761"/>
                    </a:lnTo>
                    <a:lnTo>
                      <a:pt x="8966" y="4022"/>
                    </a:lnTo>
                    <a:close/>
                    <a:moveTo>
                      <a:pt x="11824" y="13249"/>
                    </a:moveTo>
                    <a:lnTo>
                      <a:pt x="11824" y="15476"/>
                    </a:lnTo>
                    <a:lnTo>
                      <a:pt x="9430" y="15476"/>
                    </a:lnTo>
                    <a:lnTo>
                      <a:pt x="9430" y="13249"/>
                    </a:lnTo>
                    <a:close/>
                    <a:moveTo>
                      <a:pt x="10627" y="0"/>
                    </a:moveTo>
                    <a:cubicBezTo>
                      <a:pt x="9633" y="0"/>
                      <a:pt x="8639" y="492"/>
                      <a:pt x="8073" y="1474"/>
                    </a:cubicBezTo>
                    <a:lnTo>
                      <a:pt x="1144" y="13487"/>
                    </a:lnTo>
                    <a:cubicBezTo>
                      <a:pt x="1" y="15452"/>
                      <a:pt x="1418" y="17904"/>
                      <a:pt x="3692" y="17904"/>
                    </a:cubicBezTo>
                    <a:lnTo>
                      <a:pt x="17562" y="17904"/>
                    </a:lnTo>
                    <a:cubicBezTo>
                      <a:pt x="19836" y="17904"/>
                      <a:pt x="21253" y="15452"/>
                      <a:pt x="20110" y="13487"/>
                    </a:cubicBezTo>
                    <a:lnTo>
                      <a:pt x="17896" y="9630"/>
                    </a:lnTo>
                    <a:lnTo>
                      <a:pt x="13181" y="1474"/>
                    </a:lnTo>
                    <a:cubicBezTo>
                      <a:pt x="12615" y="492"/>
                      <a:pt x="11621" y="0"/>
                      <a:pt x="10627" y="0"/>
                    </a:cubicBez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238" name="Google Shape;238;p8"/>
              <p:cNvGrpSpPr/>
              <p:nvPr/>
            </p:nvGrpSpPr>
            <p:grpSpPr>
              <a:xfrm>
                <a:off x="4810716" y="2418086"/>
                <a:ext cx="1254262" cy="1254262"/>
                <a:chOff x="3608126" y="1813609"/>
                <a:chExt cx="940720" cy="940720"/>
              </a:xfrm>
            </p:grpSpPr>
            <p:sp>
              <p:nvSpPr>
                <p:cNvPr id="239" name="Google Shape;239;p8"/>
                <p:cNvSpPr/>
                <p:nvPr/>
              </p:nvSpPr>
              <p:spPr>
                <a:xfrm>
                  <a:off x="3608126" y="1813609"/>
                  <a:ext cx="940720" cy="940720"/>
                </a:xfrm>
                <a:custGeom>
                  <a:avLst/>
                  <a:gdLst/>
                  <a:ahLst/>
                  <a:cxnLst/>
                  <a:rect l="l" t="t" r="r" b="b"/>
                  <a:pathLst>
                    <a:path w="54495" h="54495" extrusionOk="0">
                      <a:moveTo>
                        <a:pt x="27242" y="0"/>
                      </a:moveTo>
                      <a:cubicBezTo>
                        <a:pt x="12216" y="0"/>
                        <a:pt x="0" y="12228"/>
                        <a:pt x="0" y="27253"/>
                      </a:cubicBezTo>
                      <a:cubicBezTo>
                        <a:pt x="0" y="42279"/>
                        <a:pt x="12216" y="54495"/>
                        <a:pt x="27242" y="54495"/>
                      </a:cubicBezTo>
                      <a:lnTo>
                        <a:pt x="54495" y="54495"/>
                      </a:lnTo>
                      <a:lnTo>
                        <a:pt x="54495" y="27253"/>
                      </a:lnTo>
                      <a:cubicBezTo>
                        <a:pt x="54495" y="12228"/>
                        <a:pt x="42267" y="0"/>
                        <a:pt x="27242" y="0"/>
                      </a:cubicBez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40" name="Google Shape;240;p8"/>
                <p:cNvSpPr/>
                <p:nvPr/>
              </p:nvSpPr>
              <p:spPr>
                <a:xfrm>
                  <a:off x="3775219" y="1980703"/>
                  <a:ext cx="606552" cy="606552"/>
                </a:xfrm>
                <a:custGeom>
                  <a:avLst/>
                  <a:gdLst/>
                  <a:ahLst/>
                  <a:cxnLst/>
                  <a:rect l="l" t="t" r="r" b="b"/>
                  <a:pathLst>
                    <a:path w="35137" h="35137" extrusionOk="0">
                      <a:moveTo>
                        <a:pt x="17563" y="1"/>
                      </a:moveTo>
                      <a:cubicBezTo>
                        <a:pt x="7883" y="1"/>
                        <a:pt x="1" y="7883"/>
                        <a:pt x="1" y="17574"/>
                      </a:cubicBezTo>
                      <a:cubicBezTo>
                        <a:pt x="1" y="27254"/>
                        <a:pt x="7883" y="35136"/>
                        <a:pt x="17563" y="35136"/>
                      </a:cubicBezTo>
                      <a:lnTo>
                        <a:pt x="35136" y="35136"/>
                      </a:lnTo>
                      <a:lnTo>
                        <a:pt x="35136" y="17574"/>
                      </a:lnTo>
                      <a:cubicBezTo>
                        <a:pt x="35136" y="7883"/>
                        <a:pt x="27254" y="1"/>
                        <a:pt x="17563"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241" name="Google Shape;241;p8"/>
              <p:cNvGrpSpPr/>
              <p:nvPr/>
            </p:nvGrpSpPr>
            <p:grpSpPr>
              <a:xfrm>
                <a:off x="6065026" y="2418086"/>
                <a:ext cx="1254285" cy="1254262"/>
                <a:chOff x="4548883" y="1813609"/>
                <a:chExt cx="940737" cy="940720"/>
              </a:xfrm>
            </p:grpSpPr>
            <p:sp>
              <p:nvSpPr>
                <p:cNvPr id="242" name="Google Shape;242;p8"/>
                <p:cNvSpPr/>
                <p:nvPr/>
              </p:nvSpPr>
              <p:spPr>
                <a:xfrm>
                  <a:off x="4548883" y="1813609"/>
                  <a:ext cx="940737" cy="940720"/>
                </a:xfrm>
                <a:custGeom>
                  <a:avLst/>
                  <a:gdLst/>
                  <a:ahLst/>
                  <a:cxnLst/>
                  <a:rect l="l" t="t" r="r" b="b"/>
                  <a:pathLst>
                    <a:path w="54496" h="54495" extrusionOk="0">
                      <a:moveTo>
                        <a:pt x="27254" y="0"/>
                      </a:moveTo>
                      <a:cubicBezTo>
                        <a:pt x="12229" y="0"/>
                        <a:pt x="1" y="12228"/>
                        <a:pt x="1" y="27253"/>
                      </a:cubicBezTo>
                      <a:lnTo>
                        <a:pt x="1" y="54495"/>
                      </a:lnTo>
                      <a:lnTo>
                        <a:pt x="27254" y="54495"/>
                      </a:lnTo>
                      <a:cubicBezTo>
                        <a:pt x="42280" y="54495"/>
                        <a:pt x="54496" y="42279"/>
                        <a:pt x="54496" y="27253"/>
                      </a:cubicBezTo>
                      <a:cubicBezTo>
                        <a:pt x="54496" y="12228"/>
                        <a:pt x="42280" y="0"/>
                        <a:pt x="27254" y="0"/>
                      </a:cubicBez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43" name="Google Shape;243;p8"/>
                <p:cNvSpPr/>
                <p:nvPr/>
              </p:nvSpPr>
              <p:spPr>
                <a:xfrm>
                  <a:off x="4715994" y="1980703"/>
                  <a:ext cx="606552" cy="606552"/>
                </a:xfrm>
                <a:custGeom>
                  <a:avLst/>
                  <a:gdLst/>
                  <a:ahLst/>
                  <a:cxnLst/>
                  <a:rect l="l" t="t" r="r" b="b"/>
                  <a:pathLst>
                    <a:path w="35137" h="35137" extrusionOk="0">
                      <a:moveTo>
                        <a:pt x="17574" y="1"/>
                      </a:moveTo>
                      <a:cubicBezTo>
                        <a:pt x="7883" y="1"/>
                        <a:pt x="1" y="7883"/>
                        <a:pt x="1" y="17574"/>
                      </a:cubicBezTo>
                      <a:lnTo>
                        <a:pt x="1" y="35136"/>
                      </a:lnTo>
                      <a:lnTo>
                        <a:pt x="17574" y="35136"/>
                      </a:lnTo>
                      <a:cubicBezTo>
                        <a:pt x="27254" y="35136"/>
                        <a:pt x="35136" y="27254"/>
                        <a:pt x="35136" y="17574"/>
                      </a:cubicBezTo>
                      <a:cubicBezTo>
                        <a:pt x="35136" y="7883"/>
                        <a:pt x="27254" y="1"/>
                        <a:pt x="17574"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244" name="Google Shape;244;p8"/>
              <p:cNvGrpSpPr/>
              <p:nvPr/>
            </p:nvGrpSpPr>
            <p:grpSpPr>
              <a:xfrm>
                <a:off x="6514483" y="2887254"/>
                <a:ext cx="401729" cy="405359"/>
                <a:chOff x="4885988" y="2165492"/>
                <a:chExt cx="301304" cy="304027"/>
              </a:xfrm>
            </p:grpSpPr>
            <p:sp>
              <p:nvSpPr>
                <p:cNvPr id="245" name="Google Shape;245;p8"/>
                <p:cNvSpPr/>
                <p:nvPr/>
              </p:nvSpPr>
              <p:spPr>
                <a:xfrm>
                  <a:off x="4962655" y="2165492"/>
                  <a:ext cx="224637" cy="304027"/>
                </a:xfrm>
                <a:custGeom>
                  <a:avLst/>
                  <a:gdLst/>
                  <a:ahLst/>
                  <a:cxnLst/>
                  <a:rect l="l" t="t" r="r" b="b"/>
                  <a:pathLst>
                    <a:path w="13013" h="17612" extrusionOk="0">
                      <a:moveTo>
                        <a:pt x="9953" y="1"/>
                      </a:moveTo>
                      <a:cubicBezTo>
                        <a:pt x="9945" y="1"/>
                        <a:pt x="9938" y="1"/>
                        <a:pt x="9930" y="1"/>
                      </a:cubicBezTo>
                      <a:lnTo>
                        <a:pt x="5989" y="24"/>
                      </a:lnTo>
                      <a:cubicBezTo>
                        <a:pt x="5989" y="24"/>
                        <a:pt x="4310" y="203"/>
                        <a:pt x="2953" y="1060"/>
                      </a:cubicBezTo>
                      <a:cubicBezTo>
                        <a:pt x="2120" y="1584"/>
                        <a:pt x="1131" y="1846"/>
                        <a:pt x="143" y="1846"/>
                      </a:cubicBezTo>
                      <a:lnTo>
                        <a:pt x="0" y="1846"/>
                      </a:lnTo>
                      <a:lnTo>
                        <a:pt x="0" y="9109"/>
                      </a:lnTo>
                      <a:cubicBezTo>
                        <a:pt x="548" y="9168"/>
                        <a:pt x="1060" y="9407"/>
                        <a:pt x="1453" y="9823"/>
                      </a:cubicBezTo>
                      <a:cubicBezTo>
                        <a:pt x="1953" y="10347"/>
                        <a:pt x="2620" y="11026"/>
                        <a:pt x="3108" y="11454"/>
                      </a:cubicBezTo>
                      <a:cubicBezTo>
                        <a:pt x="4001" y="12252"/>
                        <a:pt x="3989" y="15455"/>
                        <a:pt x="3870" y="16729"/>
                      </a:cubicBezTo>
                      <a:cubicBezTo>
                        <a:pt x="3814" y="17272"/>
                        <a:pt x="4264" y="17611"/>
                        <a:pt x="4858" y="17611"/>
                      </a:cubicBezTo>
                      <a:cubicBezTo>
                        <a:pt x="5658" y="17611"/>
                        <a:pt x="6719" y="16996"/>
                        <a:pt x="7156" y="15431"/>
                      </a:cubicBezTo>
                      <a:cubicBezTo>
                        <a:pt x="7918" y="12705"/>
                        <a:pt x="6477" y="11216"/>
                        <a:pt x="7704" y="10954"/>
                      </a:cubicBezTo>
                      <a:cubicBezTo>
                        <a:pt x="8143" y="10854"/>
                        <a:pt x="8294" y="10830"/>
                        <a:pt x="9031" y="10830"/>
                      </a:cubicBezTo>
                      <a:cubicBezTo>
                        <a:pt x="9254" y="10830"/>
                        <a:pt x="9529" y="10833"/>
                        <a:pt x="9882" y="10835"/>
                      </a:cubicBezTo>
                      <a:cubicBezTo>
                        <a:pt x="9889" y="10835"/>
                        <a:pt x="9895" y="10835"/>
                        <a:pt x="9901" y="10835"/>
                      </a:cubicBezTo>
                      <a:cubicBezTo>
                        <a:pt x="11654" y="10835"/>
                        <a:pt x="13013" y="9197"/>
                        <a:pt x="12776" y="7347"/>
                      </a:cubicBezTo>
                      <a:lnTo>
                        <a:pt x="12823" y="2691"/>
                      </a:lnTo>
                      <a:cubicBezTo>
                        <a:pt x="12634" y="1152"/>
                        <a:pt x="11407" y="1"/>
                        <a:pt x="9953" y="1"/>
                      </a:cubicBez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46" name="Google Shape;246;p8"/>
                <p:cNvSpPr/>
                <p:nvPr/>
              </p:nvSpPr>
              <p:spPr>
                <a:xfrm>
                  <a:off x="4885988" y="2193856"/>
                  <a:ext cx="53048" cy="137116"/>
                </a:xfrm>
                <a:custGeom>
                  <a:avLst/>
                  <a:gdLst/>
                  <a:ahLst/>
                  <a:cxnLst/>
                  <a:rect l="l" t="t" r="r" b="b"/>
                  <a:pathLst>
                    <a:path w="3073" h="7943" extrusionOk="0">
                      <a:moveTo>
                        <a:pt x="60" y="1"/>
                      </a:moveTo>
                      <a:lnTo>
                        <a:pt x="0" y="7906"/>
                      </a:lnTo>
                      <a:lnTo>
                        <a:pt x="3013" y="7942"/>
                      </a:lnTo>
                      <a:lnTo>
                        <a:pt x="3072" y="36"/>
                      </a:lnTo>
                      <a:lnTo>
                        <a:pt x="60" y="1"/>
                      </a:ln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247" name="Google Shape;247;p8"/>
              <p:cNvGrpSpPr/>
              <p:nvPr/>
            </p:nvGrpSpPr>
            <p:grpSpPr>
              <a:xfrm>
                <a:off x="6065026" y="3672402"/>
                <a:ext cx="1254285" cy="1254285"/>
                <a:chOff x="4548883" y="2754370"/>
                <a:chExt cx="940737" cy="940737"/>
              </a:xfrm>
            </p:grpSpPr>
            <p:sp>
              <p:nvSpPr>
                <p:cNvPr id="248" name="Google Shape;248;p8"/>
                <p:cNvSpPr/>
                <p:nvPr/>
              </p:nvSpPr>
              <p:spPr>
                <a:xfrm>
                  <a:off x="4548883" y="2754370"/>
                  <a:ext cx="940737" cy="940737"/>
                </a:xfrm>
                <a:custGeom>
                  <a:avLst/>
                  <a:gdLst/>
                  <a:ahLst/>
                  <a:cxnLst/>
                  <a:rect l="l" t="t" r="r" b="b"/>
                  <a:pathLst>
                    <a:path w="54496" h="54496" extrusionOk="0">
                      <a:moveTo>
                        <a:pt x="1" y="1"/>
                      </a:moveTo>
                      <a:lnTo>
                        <a:pt x="1" y="27254"/>
                      </a:lnTo>
                      <a:cubicBezTo>
                        <a:pt x="1" y="42280"/>
                        <a:pt x="12229" y="54496"/>
                        <a:pt x="27254" y="54496"/>
                      </a:cubicBezTo>
                      <a:cubicBezTo>
                        <a:pt x="42280" y="54496"/>
                        <a:pt x="54496" y="42280"/>
                        <a:pt x="54496" y="27254"/>
                      </a:cubicBezTo>
                      <a:cubicBezTo>
                        <a:pt x="54496" y="12229"/>
                        <a:pt x="42280" y="1"/>
                        <a:pt x="27254"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49" name="Google Shape;249;p8"/>
                <p:cNvSpPr/>
                <p:nvPr/>
              </p:nvSpPr>
              <p:spPr>
                <a:xfrm>
                  <a:off x="4715994" y="2921482"/>
                  <a:ext cx="606552" cy="606535"/>
                </a:xfrm>
                <a:custGeom>
                  <a:avLst/>
                  <a:gdLst/>
                  <a:ahLst/>
                  <a:cxnLst/>
                  <a:rect l="l" t="t" r="r" b="b"/>
                  <a:pathLst>
                    <a:path w="35137" h="35136" extrusionOk="0">
                      <a:moveTo>
                        <a:pt x="1" y="1"/>
                      </a:moveTo>
                      <a:lnTo>
                        <a:pt x="1" y="17574"/>
                      </a:lnTo>
                      <a:cubicBezTo>
                        <a:pt x="1" y="27254"/>
                        <a:pt x="7883" y="35136"/>
                        <a:pt x="17574" y="35136"/>
                      </a:cubicBezTo>
                      <a:cubicBezTo>
                        <a:pt x="27254" y="35136"/>
                        <a:pt x="35136" y="27254"/>
                        <a:pt x="35136" y="17574"/>
                      </a:cubicBezTo>
                      <a:cubicBezTo>
                        <a:pt x="35136" y="7883"/>
                        <a:pt x="27254" y="1"/>
                        <a:pt x="17574"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250" name="Google Shape;250;p8"/>
              <p:cNvGrpSpPr/>
              <p:nvPr/>
            </p:nvGrpSpPr>
            <p:grpSpPr>
              <a:xfrm>
                <a:off x="6478305" y="4097188"/>
                <a:ext cx="473856" cy="460692"/>
                <a:chOff x="4858850" y="3072970"/>
                <a:chExt cx="355401" cy="345527"/>
              </a:xfrm>
            </p:grpSpPr>
            <p:sp>
              <p:nvSpPr>
                <p:cNvPr id="251" name="Google Shape;251;p8"/>
                <p:cNvSpPr/>
                <p:nvPr/>
              </p:nvSpPr>
              <p:spPr>
                <a:xfrm>
                  <a:off x="4931615" y="3147341"/>
                  <a:ext cx="204733" cy="220787"/>
                </a:xfrm>
                <a:custGeom>
                  <a:avLst/>
                  <a:gdLst/>
                  <a:ahLst/>
                  <a:cxnLst/>
                  <a:rect l="l" t="t" r="r" b="b"/>
                  <a:pathLst>
                    <a:path w="11860" h="12790" extrusionOk="0">
                      <a:moveTo>
                        <a:pt x="5525" y="3765"/>
                      </a:moveTo>
                      <a:lnTo>
                        <a:pt x="8371" y="3884"/>
                      </a:lnTo>
                      <a:lnTo>
                        <a:pt x="6668" y="5622"/>
                      </a:lnTo>
                      <a:lnTo>
                        <a:pt x="8668" y="5777"/>
                      </a:lnTo>
                      <a:lnTo>
                        <a:pt x="3489" y="10266"/>
                      </a:lnTo>
                      <a:lnTo>
                        <a:pt x="3489" y="10266"/>
                      </a:lnTo>
                      <a:lnTo>
                        <a:pt x="5489" y="6587"/>
                      </a:lnTo>
                      <a:lnTo>
                        <a:pt x="3382" y="6587"/>
                      </a:lnTo>
                      <a:lnTo>
                        <a:pt x="5525" y="3765"/>
                      </a:lnTo>
                      <a:close/>
                      <a:moveTo>
                        <a:pt x="6027" y="1"/>
                      </a:moveTo>
                      <a:cubicBezTo>
                        <a:pt x="5806" y="1"/>
                        <a:pt x="5583" y="13"/>
                        <a:pt x="5358" y="38"/>
                      </a:cubicBezTo>
                      <a:cubicBezTo>
                        <a:pt x="2715" y="336"/>
                        <a:pt x="572" y="2443"/>
                        <a:pt x="239" y="5075"/>
                      </a:cubicBezTo>
                      <a:cubicBezTo>
                        <a:pt x="0" y="7003"/>
                        <a:pt x="703" y="8766"/>
                        <a:pt x="1941" y="9992"/>
                      </a:cubicBezTo>
                      <a:cubicBezTo>
                        <a:pt x="2144" y="10194"/>
                        <a:pt x="2358" y="10397"/>
                        <a:pt x="2525" y="10623"/>
                      </a:cubicBezTo>
                      <a:cubicBezTo>
                        <a:pt x="2834" y="11028"/>
                        <a:pt x="3251" y="11647"/>
                        <a:pt x="3572" y="12445"/>
                      </a:cubicBezTo>
                      <a:cubicBezTo>
                        <a:pt x="3656" y="12659"/>
                        <a:pt x="3870" y="12790"/>
                        <a:pt x="4108" y="12790"/>
                      </a:cubicBezTo>
                      <a:lnTo>
                        <a:pt x="7966" y="12790"/>
                      </a:lnTo>
                      <a:cubicBezTo>
                        <a:pt x="8204" y="12790"/>
                        <a:pt x="8418" y="12659"/>
                        <a:pt x="8501" y="12445"/>
                      </a:cubicBezTo>
                      <a:cubicBezTo>
                        <a:pt x="9085" y="10992"/>
                        <a:pt x="9978" y="10123"/>
                        <a:pt x="9978" y="10123"/>
                      </a:cubicBezTo>
                      <a:lnTo>
                        <a:pt x="9966" y="10123"/>
                      </a:lnTo>
                      <a:cubicBezTo>
                        <a:pt x="11133" y="9051"/>
                        <a:pt x="11859" y="7527"/>
                        <a:pt x="11859" y="5837"/>
                      </a:cubicBezTo>
                      <a:cubicBezTo>
                        <a:pt x="11859" y="2616"/>
                        <a:pt x="9241" y="1"/>
                        <a:pt x="6027"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2" name="Google Shape;252;p8"/>
                <p:cNvSpPr/>
                <p:nvPr/>
              </p:nvSpPr>
              <p:spPr>
                <a:xfrm>
                  <a:off x="4983613" y="3375531"/>
                  <a:ext cx="104231" cy="42966"/>
                </a:xfrm>
                <a:custGeom>
                  <a:avLst/>
                  <a:gdLst/>
                  <a:ahLst/>
                  <a:cxnLst/>
                  <a:rect l="l" t="t" r="r" b="b"/>
                  <a:pathLst>
                    <a:path w="6038" h="2489" extrusionOk="0">
                      <a:moveTo>
                        <a:pt x="406" y="1"/>
                      </a:moveTo>
                      <a:cubicBezTo>
                        <a:pt x="179" y="1"/>
                        <a:pt x="1" y="191"/>
                        <a:pt x="1" y="417"/>
                      </a:cubicBezTo>
                      <a:lnTo>
                        <a:pt x="1" y="501"/>
                      </a:lnTo>
                      <a:cubicBezTo>
                        <a:pt x="1" y="727"/>
                        <a:pt x="179" y="905"/>
                        <a:pt x="406" y="905"/>
                      </a:cubicBezTo>
                      <a:lnTo>
                        <a:pt x="1799" y="905"/>
                      </a:lnTo>
                      <a:lnTo>
                        <a:pt x="1799" y="1275"/>
                      </a:lnTo>
                      <a:cubicBezTo>
                        <a:pt x="1799" y="1941"/>
                        <a:pt x="2346" y="2489"/>
                        <a:pt x="3013" y="2489"/>
                      </a:cubicBezTo>
                      <a:cubicBezTo>
                        <a:pt x="3680" y="2489"/>
                        <a:pt x="4227" y="1941"/>
                        <a:pt x="4227" y="1275"/>
                      </a:cubicBezTo>
                      <a:lnTo>
                        <a:pt x="4227" y="905"/>
                      </a:lnTo>
                      <a:lnTo>
                        <a:pt x="5620" y="905"/>
                      </a:lnTo>
                      <a:cubicBezTo>
                        <a:pt x="5847" y="905"/>
                        <a:pt x="6037" y="727"/>
                        <a:pt x="6037" y="501"/>
                      </a:cubicBezTo>
                      <a:lnTo>
                        <a:pt x="6037" y="417"/>
                      </a:lnTo>
                      <a:cubicBezTo>
                        <a:pt x="6037" y="191"/>
                        <a:pt x="5847" y="1"/>
                        <a:pt x="5620"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3" name="Google Shape;253;p8"/>
                <p:cNvSpPr/>
                <p:nvPr/>
              </p:nvSpPr>
              <p:spPr>
                <a:xfrm>
                  <a:off x="5028429" y="3072970"/>
                  <a:ext cx="14604" cy="46885"/>
                </a:xfrm>
                <a:custGeom>
                  <a:avLst/>
                  <a:gdLst/>
                  <a:ahLst/>
                  <a:cxnLst/>
                  <a:rect l="l" t="t" r="r" b="b"/>
                  <a:pathLst>
                    <a:path w="846" h="2716" extrusionOk="0">
                      <a:moveTo>
                        <a:pt x="417" y="1"/>
                      </a:moveTo>
                      <a:cubicBezTo>
                        <a:pt x="191" y="1"/>
                        <a:pt x="0" y="191"/>
                        <a:pt x="0" y="429"/>
                      </a:cubicBezTo>
                      <a:lnTo>
                        <a:pt x="0" y="2298"/>
                      </a:lnTo>
                      <a:cubicBezTo>
                        <a:pt x="0" y="2525"/>
                        <a:pt x="191" y="2715"/>
                        <a:pt x="417" y="2715"/>
                      </a:cubicBezTo>
                      <a:cubicBezTo>
                        <a:pt x="655" y="2715"/>
                        <a:pt x="846" y="2525"/>
                        <a:pt x="846" y="2298"/>
                      </a:cubicBezTo>
                      <a:lnTo>
                        <a:pt x="846" y="429"/>
                      </a:lnTo>
                      <a:cubicBezTo>
                        <a:pt x="846" y="191"/>
                        <a:pt x="655" y="1"/>
                        <a:pt x="417"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4" name="Google Shape;254;p8"/>
                <p:cNvSpPr/>
                <p:nvPr/>
              </p:nvSpPr>
              <p:spPr>
                <a:xfrm>
                  <a:off x="4942301" y="3096224"/>
                  <a:ext cx="32695" cy="42621"/>
                </a:xfrm>
                <a:custGeom>
                  <a:avLst/>
                  <a:gdLst/>
                  <a:ahLst/>
                  <a:cxnLst/>
                  <a:rect l="l" t="t" r="r" b="b"/>
                  <a:pathLst>
                    <a:path w="1894" h="2469" extrusionOk="0">
                      <a:moveTo>
                        <a:pt x="475" y="1"/>
                      </a:moveTo>
                      <a:cubicBezTo>
                        <a:pt x="402" y="1"/>
                        <a:pt x="329" y="19"/>
                        <a:pt x="262" y="59"/>
                      </a:cubicBezTo>
                      <a:cubicBezTo>
                        <a:pt x="60" y="178"/>
                        <a:pt x="1" y="440"/>
                        <a:pt x="108" y="642"/>
                      </a:cubicBezTo>
                      <a:lnTo>
                        <a:pt x="1048" y="2261"/>
                      </a:lnTo>
                      <a:cubicBezTo>
                        <a:pt x="1128" y="2397"/>
                        <a:pt x="1267" y="2468"/>
                        <a:pt x="1411" y="2468"/>
                      </a:cubicBezTo>
                      <a:cubicBezTo>
                        <a:pt x="1481" y="2468"/>
                        <a:pt x="1553" y="2451"/>
                        <a:pt x="1620" y="2416"/>
                      </a:cubicBezTo>
                      <a:cubicBezTo>
                        <a:pt x="1822" y="2297"/>
                        <a:pt x="1894" y="2035"/>
                        <a:pt x="1775" y="1833"/>
                      </a:cubicBezTo>
                      <a:lnTo>
                        <a:pt x="846" y="213"/>
                      </a:lnTo>
                      <a:cubicBezTo>
                        <a:pt x="766" y="78"/>
                        <a:pt x="622" y="1"/>
                        <a:pt x="475"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5" name="Google Shape;255;p8"/>
                <p:cNvSpPr/>
                <p:nvPr/>
              </p:nvSpPr>
              <p:spPr>
                <a:xfrm>
                  <a:off x="4880222" y="3159011"/>
                  <a:ext cx="44624" cy="30693"/>
                </a:xfrm>
                <a:custGeom>
                  <a:avLst/>
                  <a:gdLst/>
                  <a:ahLst/>
                  <a:cxnLst/>
                  <a:rect l="l" t="t" r="r" b="b"/>
                  <a:pathLst>
                    <a:path w="2585" h="1778" extrusionOk="0">
                      <a:moveTo>
                        <a:pt x="479" y="0"/>
                      </a:moveTo>
                      <a:cubicBezTo>
                        <a:pt x="332" y="0"/>
                        <a:pt x="188" y="72"/>
                        <a:pt x="108" y="208"/>
                      </a:cubicBezTo>
                      <a:cubicBezTo>
                        <a:pt x="1" y="410"/>
                        <a:pt x="72" y="672"/>
                        <a:pt x="275" y="791"/>
                      </a:cubicBezTo>
                      <a:lnTo>
                        <a:pt x="1882" y="1720"/>
                      </a:lnTo>
                      <a:cubicBezTo>
                        <a:pt x="1949" y="1759"/>
                        <a:pt x="2022" y="1778"/>
                        <a:pt x="2094" y="1778"/>
                      </a:cubicBezTo>
                      <a:cubicBezTo>
                        <a:pt x="2242" y="1778"/>
                        <a:pt x="2386" y="1701"/>
                        <a:pt x="2465" y="1565"/>
                      </a:cubicBezTo>
                      <a:cubicBezTo>
                        <a:pt x="2585" y="1363"/>
                        <a:pt x="2513" y="1113"/>
                        <a:pt x="2311" y="994"/>
                      </a:cubicBezTo>
                      <a:lnTo>
                        <a:pt x="691" y="53"/>
                      </a:lnTo>
                      <a:cubicBezTo>
                        <a:pt x="625" y="18"/>
                        <a:pt x="552" y="0"/>
                        <a:pt x="479"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6" name="Google Shape;256;p8"/>
                <p:cNvSpPr/>
                <p:nvPr/>
              </p:nvSpPr>
              <p:spPr>
                <a:xfrm>
                  <a:off x="4858850" y="3244397"/>
                  <a:ext cx="46885" cy="14604"/>
                </a:xfrm>
                <a:custGeom>
                  <a:avLst/>
                  <a:gdLst/>
                  <a:ahLst/>
                  <a:cxnLst/>
                  <a:rect l="l" t="t" r="r" b="b"/>
                  <a:pathLst>
                    <a:path w="2716" h="846" extrusionOk="0">
                      <a:moveTo>
                        <a:pt x="417" y="0"/>
                      </a:moveTo>
                      <a:cubicBezTo>
                        <a:pt x="191" y="0"/>
                        <a:pt x="1" y="191"/>
                        <a:pt x="1" y="417"/>
                      </a:cubicBezTo>
                      <a:cubicBezTo>
                        <a:pt x="1" y="655"/>
                        <a:pt x="191" y="846"/>
                        <a:pt x="417" y="846"/>
                      </a:cubicBezTo>
                      <a:lnTo>
                        <a:pt x="2287" y="846"/>
                      </a:lnTo>
                      <a:cubicBezTo>
                        <a:pt x="2525" y="846"/>
                        <a:pt x="2715" y="655"/>
                        <a:pt x="2715" y="417"/>
                      </a:cubicBezTo>
                      <a:cubicBezTo>
                        <a:pt x="2715" y="191"/>
                        <a:pt x="2525" y="0"/>
                        <a:pt x="2287"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7" name="Google Shape;257;p8"/>
                <p:cNvSpPr/>
                <p:nvPr/>
              </p:nvSpPr>
              <p:spPr>
                <a:xfrm>
                  <a:off x="4881050" y="3313279"/>
                  <a:ext cx="44624" cy="30796"/>
                </a:xfrm>
                <a:custGeom>
                  <a:avLst/>
                  <a:gdLst/>
                  <a:ahLst/>
                  <a:cxnLst/>
                  <a:rect l="l" t="t" r="r" b="b"/>
                  <a:pathLst>
                    <a:path w="2585" h="1784" extrusionOk="0">
                      <a:moveTo>
                        <a:pt x="2105" y="1"/>
                      </a:moveTo>
                      <a:cubicBezTo>
                        <a:pt x="2033" y="1"/>
                        <a:pt x="1960" y="19"/>
                        <a:pt x="1894" y="58"/>
                      </a:cubicBezTo>
                      <a:lnTo>
                        <a:pt x="274" y="987"/>
                      </a:lnTo>
                      <a:cubicBezTo>
                        <a:pt x="72" y="1106"/>
                        <a:pt x="0" y="1368"/>
                        <a:pt x="120" y="1571"/>
                      </a:cubicBezTo>
                      <a:cubicBezTo>
                        <a:pt x="199" y="1706"/>
                        <a:pt x="343" y="1783"/>
                        <a:pt x="491" y="1783"/>
                      </a:cubicBezTo>
                      <a:cubicBezTo>
                        <a:pt x="563" y="1783"/>
                        <a:pt x="636" y="1765"/>
                        <a:pt x="703" y="1725"/>
                      </a:cubicBezTo>
                      <a:lnTo>
                        <a:pt x="2310" y="797"/>
                      </a:lnTo>
                      <a:cubicBezTo>
                        <a:pt x="2513" y="678"/>
                        <a:pt x="2584" y="416"/>
                        <a:pt x="2465" y="213"/>
                      </a:cubicBezTo>
                      <a:cubicBezTo>
                        <a:pt x="2393" y="78"/>
                        <a:pt x="2252" y="1"/>
                        <a:pt x="2105"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8" name="Google Shape;258;p8"/>
                <p:cNvSpPr/>
                <p:nvPr/>
              </p:nvSpPr>
              <p:spPr>
                <a:xfrm>
                  <a:off x="5148255" y="3311639"/>
                  <a:ext cx="44624" cy="30779"/>
                </a:xfrm>
                <a:custGeom>
                  <a:avLst/>
                  <a:gdLst/>
                  <a:ahLst/>
                  <a:cxnLst/>
                  <a:rect l="l" t="t" r="r" b="b"/>
                  <a:pathLst>
                    <a:path w="2585" h="1783" extrusionOk="0">
                      <a:moveTo>
                        <a:pt x="491" y="0"/>
                      </a:moveTo>
                      <a:cubicBezTo>
                        <a:pt x="344" y="0"/>
                        <a:pt x="200" y="77"/>
                        <a:pt x="120" y="213"/>
                      </a:cubicBezTo>
                      <a:cubicBezTo>
                        <a:pt x="1" y="415"/>
                        <a:pt x="72" y="677"/>
                        <a:pt x="274" y="796"/>
                      </a:cubicBezTo>
                      <a:lnTo>
                        <a:pt x="1894" y="1725"/>
                      </a:lnTo>
                      <a:cubicBezTo>
                        <a:pt x="1960" y="1764"/>
                        <a:pt x="2034" y="1783"/>
                        <a:pt x="2106" y="1783"/>
                      </a:cubicBezTo>
                      <a:cubicBezTo>
                        <a:pt x="2253" y="1783"/>
                        <a:pt x="2397" y="1706"/>
                        <a:pt x="2477" y="1570"/>
                      </a:cubicBezTo>
                      <a:cubicBezTo>
                        <a:pt x="2584" y="1368"/>
                        <a:pt x="2525" y="1106"/>
                        <a:pt x="2322" y="999"/>
                      </a:cubicBezTo>
                      <a:lnTo>
                        <a:pt x="703" y="58"/>
                      </a:lnTo>
                      <a:cubicBezTo>
                        <a:pt x="636" y="19"/>
                        <a:pt x="563" y="0"/>
                        <a:pt x="491"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9" name="Google Shape;259;p8"/>
                <p:cNvSpPr/>
                <p:nvPr/>
              </p:nvSpPr>
              <p:spPr>
                <a:xfrm>
                  <a:off x="5167366" y="3242550"/>
                  <a:ext cx="46885" cy="14604"/>
                </a:xfrm>
                <a:custGeom>
                  <a:avLst/>
                  <a:gdLst/>
                  <a:ahLst/>
                  <a:cxnLst/>
                  <a:rect l="l" t="t" r="r" b="b"/>
                  <a:pathLst>
                    <a:path w="2716" h="846" extrusionOk="0">
                      <a:moveTo>
                        <a:pt x="430" y="0"/>
                      </a:moveTo>
                      <a:cubicBezTo>
                        <a:pt x="191" y="0"/>
                        <a:pt x="1" y="191"/>
                        <a:pt x="1" y="417"/>
                      </a:cubicBezTo>
                      <a:cubicBezTo>
                        <a:pt x="1" y="655"/>
                        <a:pt x="191" y="846"/>
                        <a:pt x="430" y="846"/>
                      </a:cubicBezTo>
                      <a:lnTo>
                        <a:pt x="2299" y="846"/>
                      </a:lnTo>
                      <a:cubicBezTo>
                        <a:pt x="2525" y="846"/>
                        <a:pt x="2716" y="655"/>
                        <a:pt x="2716" y="417"/>
                      </a:cubicBezTo>
                      <a:cubicBezTo>
                        <a:pt x="2716" y="191"/>
                        <a:pt x="2525" y="0"/>
                        <a:pt x="2299"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60" name="Google Shape;260;p8"/>
                <p:cNvSpPr/>
                <p:nvPr/>
              </p:nvSpPr>
              <p:spPr>
                <a:xfrm>
                  <a:off x="5147426" y="3157475"/>
                  <a:ext cx="44624" cy="30693"/>
                </a:xfrm>
                <a:custGeom>
                  <a:avLst/>
                  <a:gdLst/>
                  <a:ahLst/>
                  <a:cxnLst/>
                  <a:rect l="l" t="t" r="r" b="b"/>
                  <a:pathLst>
                    <a:path w="2585" h="1778" extrusionOk="0">
                      <a:moveTo>
                        <a:pt x="2103" y="1"/>
                      </a:moveTo>
                      <a:cubicBezTo>
                        <a:pt x="2033" y="1"/>
                        <a:pt x="1961" y="19"/>
                        <a:pt x="1894" y="59"/>
                      </a:cubicBezTo>
                      <a:lnTo>
                        <a:pt x="275" y="987"/>
                      </a:lnTo>
                      <a:cubicBezTo>
                        <a:pt x="72" y="1106"/>
                        <a:pt x="1" y="1368"/>
                        <a:pt x="120" y="1571"/>
                      </a:cubicBezTo>
                      <a:cubicBezTo>
                        <a:pt x="200" y="1706"/>
                        <a:pt x="339" y="1778"/>
                        <a:pt x="483" y="1778"/>
                      </a:cubicBezTo>
                      <a:cubicBezTo>
                        <a:pt x="553" y="1778"/>
                        <a:pt x="625" y="1761"/>
                        <a:pt x="692" y="1725"/>
                      </a:cubicBezTo>
                      <a:lnTo>
                        <a:pt x="2311" y="785"/>
                      </a:lnTo>
                      <a:cubicBezTo>
                        <a:pt x="2513" y="666"/>
                        <a:pt x="2585" y="416"/>
                        <a:pt x="2466" y="213"/>
                      </a:cubicBezTo>
                      <a:cubicBezTo>
                        <a:pt x="2386" y="78"/>
                        <a:pt x="2247" y="1"/>
                        <a:pt x="2103"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61" name="Google Shape;261;p8"/>
                <p:cNvSpPr/>
                <p:nvPr/>
              </p:nvSpPr>
              <p:spPr>
                <a:xfrm>
                  <a:off x="5096465" y="3095412"/>
                  <a:ext cx="32902" cy="42500"/>
                </a:xfrm>
                <a:custGeom>
                  <a:avLst/>
                  <a:gdLst/>
                  <a:ahLst/>
                  <a:cxnLst/>
                  <a:rect l="l" t="t" r="r" b="b"/>
                  <a:pathLst>
                    <a:path w="1906" h="2462" extrusionOk="0">
                      <a:moveTo>
                        <a:pt x="1419" y="0"/>
                      </a:moveTo>
                      <a:cubicBezTo>
                        <a:pt x="1272" y="0"/>
                        <a:pt x="1128" y="77"/>
                        <a:pt x="1048" y="213"/>
                      </a:cubicBezTo>
                      <a:lnTo>
                        <a:pt x="119" y="1832"/>
                      </a:lnTo>
                      <a:cubicBezTo>
                        <a:pt x="0" y="2034"/>
                        <a:pt x="72" y="2284"/>
                        <a:pt x="274" y="2403"/>
                      </a:cubicBezTo>
                      <a:cubicBezTo>
                        <a:pt x="341" y="2443"/>
                        <a:pt x="414" y="2461"/>
                        <a:pt x="486" y="2461"/>
                      </a:cubicBezTo>
                      <a:cubicBezTo>
                        <a:pt x="634" y="2461"/>
                        <a:pt x="778" y="2384"/>
                        <a:pt x="857" y="2249"/>
                      </a:cubicBezTo>
                      <a:lnTo>
                        <a:pt x="1786" y="629"/>
                      </a:lnTo>
                      <a:cubicBezTo>
                        <a:pt x="1905" y="427"/>
                        <a:pt x="1834" y="177"/>
                        <a:pt x="1631" y="58"/>
                      </a:cubicBezTo>
                      <a:cubicBezTo>
                        <a:pt x="1565" y="19"/>
                        <a:pt x="1492" y="0"/>
                        <a:pt x="1419"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262" name="Google Shape;262;p8"/>
              <p:cNvGrpSpPr/>
              <p:nvPr/>
            </p:nvGrpSpPr>
            <p:grpSpPr>
              <a:xfrm>
                <a:off x="5314406" y="2951103"/>
                <a:ext cx="1499544" cy="1442885"/>
                <a:chOff x="3985903" y="2213381"/>
                <a:chExt cx="1124686" cy="1082191"/>
              </a:xfrm>
            </p:grpSpPr>
            <p:sp>
              <p:nvSpPr>
                <p:cNvPr id="263" name="Google Shape;263;p8"/>
                <p:cNvSpPr/>
                <p:nvPr/>
              </p:nvSpPr>
              <p:spPr>
                <a:xfrm>
                  <a:off x="3987353" y="2214624"/>
                  <a:ext cx="1123236" cy="1079614"/>
                </a:xfrm>
                <a:custGeom>
                  <a:avLst/>
                  <a:gdLst/>
                  <a:ahLst/>
                  <a:cxnLst/>
                  <a:rect l="l" t="t" r="r" b="b"/>
                  <a:pathLst>
                    <a:path w="65068" h="62541" extrusionOk="0">
                      <a:moveTo>
                        <a:pt x="32529" y="0"/>
                      </a:moveTo>
                      <a:cubicBezTo>
                        <a:pt x="29212" y="0"/>
                        <a:pt x="25896" y="1262"/>
                        <a:pt x="23372" y="3786"/>
                      </a:cubicBezTo>
                      <a:lnTo>
                        <a:pt x="5048" y="22110"/>
                      </a:lnTo>
                      <a:cubicBezTo>
                        <a:pt x="0" y="27158"/>
                        <a:pt x="0" y="35374"/>
                        <a:pt x="5048" y="40434"/>
                      </a:cubicBezTo>
                      <a:lnTo>
                        <a:pt x="23372" y="58746"/>
                      </a:lnTo>
                      <a:cubicBezTo>
                        <a:pt x="25896" y="61276"/>
                        <a:pt x="29212" y="62541"/>
                        <a:pt x="32528" y="62541"/>
                      </a:cubicBezTo>
                      <a:cubicBezTo>
                        <a:pt x="35844" y="62541"/>
                        <a:pt x="39160" y="61276"/>
                        <a:pt x="41684" y="58746"/>
                      </a:cubicBezTo>
                      <a:cubicBezTo>
                        <a:pt x="46744" y="53697"/>
                        <a:pt x="54959" y="45482"/>
                        <a:pt x="60008" y="40422"/>
                      </a:cubicBezTo>
                      <a:cubicBezTo>
                        <a:pt x="65068" y="35374"/>
                        <a:pt x="65068" y="27158"/>
                        <a:pt x="60008" y="22110"/>
                      </a:cubicBezTo>
                      <a:cubicBezTo>
                        <a:pt x="54959" y="17062"/>
                        <a:pt x="46744" y="8835"/>
                        <a:pt x="41696" y="3786"/>
                      </a:cubicBezTo>
                      <a:cubicBezTo>
                        <a:pt x="39166" y="1262"/>
                        <a:pt x="35847" y="0"/>
                        <a:pt x="32529" y="0"/>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264" name="Google Shape;264;p8"/>
                <p:cNvGrpSpPr/>
                <p:nvPr/>
              </p:nvGrpSpPr>
              <p:grpSpPr>
                <a:xfrm>
                  <a:off x="4380547" y="2919635"/>
                  <a:ext cx="636781" cy="375937"/>
                  <a:chOff x="4380547" y="2919635"/>
                  <a:chExt cx="636781" cy="375937"/>
                </a:xfrm>
              </p:grpSpPr>
              <p:sp>
                <p:nvSpPr>
                  <p:cNvPr id="265" name="Google Shape;265;p8"/>
                  <p:cNvSpPr/>
                  <p:nvPr/>
                </p:nvSpPr>
                <p:spPr>
                  <a:xfrm>
                    <a:off x="4380547" y="3114281"/>
                    <a:ext cx="336481" cy="181291"/>
                  </a:xfrm>
                  <a:custGeom>
                    <a:avLst/>
                    <a:gdLst/>
                    <a:ahLst/>
                    <a:cxnLst/>
                    <a:rect l="l" t="t" r="r" b="b"/>
                    <a:pathLst>
                      <a:path w="19492" h="10502" extrusionOk="0">
                        <a:moveTo>
                          <a:pt x="1" y="1"/>
                        </a:moveTo>
                        <a:lnTo>
                          <a:pt x="1" y="6097"/>
                        </a:lnTo>
                        <a:lnTo>
                          <a:pt x="13" y="6121"/>
                        </a:lnTo>
                        <a:cubicBezTo>
                          <a:pt x="156" y="6287"/>
                          <a:pt x="322" y="6466"/>
                          <a:pt x="537" y="6692"/>
                        </a:cubicBezTo>
                        <a:cubicBezTo>
                          <a:pt x="3001" y="9145"/>
                          <a:pt x="6263" y="10502"/>
                          <a:pt x="9752" y="10502"/>
                        </a:cubicBezTo>
                        <a:cubicBezTo>
                          <a:pt x="13241" y="10502"/>
                          <a:pt x="16503" y="9145"/>
                          <a:pt x="18956" y="6692"/>
                        </a:cubicBezTo>
                        <a:lnTo>
                          <a:pt x="19491" y="6144"/>
                        </a:lnTo>
                        <a:lnTo>
                          <a:pt x="19491" y="1"/>
                        </a:lnTo>
                        <a:lnTo>
                          <a:pt x="18658" y="846"/>
                        </a:lnTo>
                        <a:cubicBezTo>
                          <a:pt x="18205" y="1299"/>
                          <a:pt x="17777" y="1727"/>
                          <a:pt x="17372" y="2132"/>
                        </a:cubicBezTo>
                        <a:cubicBezTo>
                          <a:pt x="15336" y="4168"/>
                          <a:pt x="12633" y="5287"/>
                          <a:pt x="9752" y="5287"/>
                        </a:cubicBezTo>
                        <a:cubicBezTo>
                          <a:pt x="6871" y="5287"/>
                          <a:pt x="4156" y="4168"/>
                          <a:pt x="2132" y="2132"/>
                        </a:cubicBezTo>
                        <a:lnTo>
                          <a:pt x="1" y="1"/>
                        </a:ln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66" name="Google Shape;266;p8"/>
                  <p:cNvSpPr/>
                  <p:nvPr/>
                </p:nvSpPr>
                <p:spPr>
                  <a:xfrm>
                    <a:off x="4714354" y="2919635"/>
                    <a:ext cx="302974" cy="303181"/>
                  </a:xfrm>
                  <a:custGeom>
                    <a:avLst/>
                    <a:gdLst/>
                    <a:ahLst/>
                    <a:cxnLst/>
                    <a:rect l="l" t="t" r="r" b="b"/>
                    <a:pathLst>
                      <a:path w="17551" h="17563" extrusionOk="0">
                        <a:moveTo>
                          <a:pt x="1" y="1"/>
                        </a:moveTo>
                        <a:lnTo>
                          <a:pt x="1" y="17562"/>
                        </a:lnTo>
                        <a:lnTo>
                          <a:pt x="17550" y="1"/>
                        </a:ln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267" name="Google Shape;267;p8"/>
                <p:cNvGrpSpPr/>
                <p:nvPr/>
              </p:nvGrpSpPr>
              <p:grpSpPr>
                <a:xfrm>
                  <a:off x="4714354" y="2285940"/>
                  <a:ext cx="375747" cy="636160"/>
                  <a:chOff x="4714354" y="2285940"/>
                  <a:chExt cx="375747" cy="636160"/>
                </a:xfrm>
              </p:grpSpPr>
              <p:sp>
                <p:nvSpPr>
                  <p:cNvPr id="268" name="Google Shape;268;p8"/>
                  <p:cNvSpPr/>
                  <p:nvPr/>
                </p:nvSpPr>
                <p:spPr>
                  <a:xfrm>
                    <a:off x="4908793" y="2585619"/>
                    <a:ext cx="181308" cy="336481"/>
                  </a:xfrm>
                  <a:custGeom>
                    <a:avLst/>
                    <a:gdLst/>
                    <a:ahLst/>
                    <a:cxnLst/>
                    <a:rect l="l" t="t" r="r" b="b"/>
                    <a:pathLst>
                      <a:path w="10503" h="19492" extrusionOk="0">
                        <a:moveTo>
                          <a:pt x="13" y="1"/>
                        </a:moveTo>
                        <a:lnTo>
                          <a:pt x="2132" y="2144"/>
                        </a:lnTo>
                        <a:cubicBezTo>
                          <a:pt x="6347" y="6347"/>
                          <a:pt x="6347" y="13169"/>
                          <a:pt x="2132" y="17372"/>
                        </a:cubicBezTo>
                        <a:lnTo>
                          <a:pt x="1" y="19491"/>
                        </a:lnTo>
                        <a:lnTo>
                          <a:pt x="6156" y="19491"/>
                        </a:lnTo>
                        <a:lnTo>
                          <a:pt x="6156" y="19456"/>
                        </a:lnTo>
                        <a:lnTo>
                          <a:pt x="6650" y="18904"/>
                        </a:lnTo>
                        <a:lnTo>
                          <a:pt x="6650" y="18904"/>
                        </a:lnTo>
                        <a:lnTo>
                          <a:pt x="6692" y="18968"/>
                        </a:lnTo>
                        <a:cubicBezTo>
                          <a:pt x="9157" y="16515"/>
                          <a:pt x="10502" y="13264"/>
                          <a:pt x="10502" y="9776"/>
                        </a:cubicBezTo>
                        <a:cubicBezTo>
                          <a:pt x="10502" y="6299"/>
                          <a:pt x="9145" y="3013"/>
                          <a:pt x="6692" y="549"/>
                        </a:cubicBezTo>
                        <a:lnTo>
                          <a:pt x="6144" y="1"/>
                        </a:ln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69" name="Google Shape;269;p8"/>
                  <p:cNvSpPr/>
                  <p:nvPr/>
                </p:nvSpPr>
                <p:spPr>
                  <a:xfrm>
                    <a:off x="4714354" y="2285940"/>
                    <a:ext cx="303181" cy="302146"/>
                  </a:xfrm>
                  <a:custGeom>
                    <a:avLst/>
                    <a:gdLst/>
                    <a:ahLst/>
                    <a:cxnLst/>
                    <a:rect l="l" t="t" r="r" b="b"/>
                    <a:pathLst>
                      <a:path w="17563" h="17503" extrusionOk="0">
                        <a:moveTo>
                          <a:pt x="1" y="1"/>
                        </a:moveTo>
                        <a:lnTo>
                          <a:pt x="1" y="17503"/>
                        </a:lnTo>
                        <a:lnTo>
                          <a:pt x="17562" y="17503"/>
                        </a:lnTo>
                        <a:lnTo>
                          <a:pt x="17146" y="17098"/>
                        </a:lnTo>
                        <a:cubicBezTo>
                          <a:pt x="12240" y="12193"/>
                          <a:pt x="4954" y="4930"/>
                          <a:pt x="143" y="120"/>
                        </a:cubicBezTo>
                        <a:lnTo>
                          <a:pt x="1" y="1"/>
                        </a:ln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270" name="Google Shape;270;p8"/>
                <p:cNvGrpSpPr/>
                <p:nvPr/>
              </p:nvGrpSpPr>
              <p:grpSpPr>
                <a:xfrm>
                  <a:off x="3985903" y="2585619"/>
                  <a:ext cx="397112" cy="637197"/>
                  <a:chOff x="3985903" y="2585619"/>
                  <a:chExt cx="397112" cy="637197"/>
                </a:xfrm>
              </p:grpSpPr>
              <p:sp>
                <p:nvSpPr>
                  <p:cNvPr id="271" name="Google Shape;271;p8"/>
                  <p:cNvSpPr/>
                  <p:nvPr/>
                </p:nvSpPr>
                <p:spPr>
                  <a:xfrm>
                    <a:off x="3985903" y="2585619"/>
                    <a:ext cx="203093" cy="336481"/>
                  </a:xfrm>
                  <a:custGeom>
                    <a:avLst/>
                    <a:gdLst/>
                    <a:ahLst/>
                    <a:cxnLst/>
                    <a:rect l="l" t="t" r="r" b="b"/>
                    <a:pathLst>
                      <a:path w="11765" h="19492" extrusionOk="0">
                        <a:moveTo>
                          <a:pt x="5621" y="1"/>
                        </a:moveTo>
                        <a:lnTo>
                          <a:pt x="5085" y="549"/>
                        </a:lnTo>
                        <a:cubicBezTo>
                          <a:pt x="1" y="5633"/>
                          <a:pt x="1" y="13884"/>
                          <a:pt x="5085" y="18968"/>
                        </a:cubicBezTo>
                        <a:lnTo>
                          <a:pt x="5621" y="19491"/>
                        </a:lnTo>
                        <a:lnTo>
                          <a:pt x="11764" y="19491"/>
                        </a:lnTo>
                        <a:lnTo>
                          <a:pt x="9633" y="17384"/>
                        </a:lnTo>
                        <a:cubicBezTo>
                          <a:pt x="7597" y="15348"/>
                          <a:pt x="6478" y="12657"/>
                          <a:pt x="6478" y="9776"/>
                        </a:cubicBezTo>
                        <a:cubicBezTo>
                          <a:pt x="6478" y="6895"/>
                          <a:pt x="7597" y="4168"/>
                          <a:pt x="9633" y="2144"/>
                        </a:cubicBezTo>
                        <a:lnTo>
                          <a:pt x="11764" y="1"/>
                        </a:ln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72" name="Google Shape;272;p8"/>
                  <p:cNvSpPr/>
                  <p:nvPr/>
                </p:nvSpPr>
                <p:spPr>
                  <a:xfrm>
                    <a:off x="4080455" y="2919635"/>
                    <a:ext cx="302560" cy="303181"/>
                  </a:xfrm>
                  <a:custGeom>
                    <a:avLst/>
                    <a:gdLst/>
                    <a:ahLst/>
                    <a:cxnLst/>
                    <a:rect l="l" t="t" r="r" b="b"/>
                    <a:pathLst>
                      <a:path w="17527" h="17563" extrusionOk="0">
                        <a:moveTo>
                          <a:pt x="1" y="1"/>
                        </a:moveTo>
                        <a:lnTo>
                          <a:pt x="120" y="143"/>
                        </a:lnTo>
                        <a:cubicBezTo>
                          <a:pt x="5025" y="5049"/>
                          <a:pt x="12502" y="12526"/>
                          <a:pt x="17396" y="17431"/>
                        </a:cubicBezTo>
                        <a:lnTo>
                          <a:pt x="17527" y="17562"/>
                        </a:lnTo>
                        <a:lnTo>
                          <a:pt x="17527" y="1"/>
                        </a:ln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nvGrpSpPr>
                <p:cNvPr id="273" name="Google Shape;273;p8"/>
                <p:cNvGrpSpPr/>
                <p:nvPr/>
              </p:nvGrpSpPr>
              <p:grpSpPr>
                <a:xfrm>
                  <a:off x="4080455" y="2213381"/>
                  <a:ext cx="636573" cy="374705"/>
                  <a:chOff x="4080455" y="2213381"/>
                  <a:chExt cx="636573" cy="374705"/>
                </a:xfrm>
              </p:grpSpPr>
              <p:sp>
                <p:nvSpPr>
                  <p:cNvPr id="274" name="Google Shape;274;p8"/>
                  <p:cNvSpPr/>
                  <p:nvPr/>
                </p:nvSpPr>
                <p:spPr>
                  <a:xfrm>
                    <a:off x="4380340" y="2213381"/>
                    <a:ext cx="336688" cy="181101"/>
                  </a:xfrm>
                  <a:custGeom>
                    <a:avLst/>
                    <a:gdLst/>
                    <a:ahLst/>
                    <a:cxnLst/>
                    <a:rect l="l" t="t" r="r" b="b"/>
                    <a:pathLst>
                      <a:path w="19504" h="10491" extrusionOk="0">
                        <a:moveTo>
                          <a:pt x="9764" y="1"/>
                        </a:moveTo>
                        <a:cubicBezTo>
                          <a:pt x="6287" y="1"/>
                          <a:pt x="3013" y="1358"/>
                          <a:pt x="549" y="3811"/>
                        </a:cubicBezTo>
                        <a:lnTo>
                          <a:pt x="1" y="4358"/>
                        </a:lnTo>
                        <a:lnTo>
                          <a:pt x="1" y="10490"/>
                        </a:lnTo>
                        <a:lnTo>
                          <a:pt x="2144" y="8359"/>
                        </a:lnTo>
                        <a:cubicBezTo>
                          <a:pt x="4180" y="6323"/>
                          <a:pt x="6883" y="5204"/>
                          <a:pt x="9764" y="5204"/>
                        </a:cubicBezTo>
                        <a:cubicBezTo>
                          <a:pt x="12645" y="5204"/>
                          <a:pt x="15348" y="6323"/>
                          <a:pt x="17384" y="8359"/>
                        </a:cubicBezTo>
                        <a:lnTo>
                          <a:pt x="19503" y="10490"/>
                        </a:lnTo>
                        <a:lnTo>
                          <a:pt x="19503" y="4442"/>
                        </a:lnTo>
                        <a:lnTo>
                          <a:pt x="19444" y="4442"/>
                        </a:lnTo>
                        <a:lnTo>
                          <a:pt x="18932" y="3894"/>
                        </a:lnTo>
                        <a:lnTo>
                          <a:pt x="18979" y="3823"/>
                        </a:lnTo>
                        <a:cubicBezTo>
                          <a:pt x="16527" y="1370"/>
                          <a:pt x="13253" y="1"/>
                          <a:pt x="9764" y="1"/>
                        </a:cubicBez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75" name="Google Shape;275;p8"/>
                  <p:cNvSpPr/>
                  <p:nvPr/>
                </p:nvSpPr>
                <p:spPr>
                  <a:xfrm>
                    <a:off x="4080455" y="2285940"/>
                    <a:ext cx="302560" cy="302146"/>
                  </a:xfrm>
                  <a:custGeom>
                    <a:avLst/>
                    <a:gdLst/>
                    <a:ahLst/>
                    <a:cxnLst/>
                    <a:rect l="l" t="t" r="r" b="b"/>
                    <a:pathLst>
                      <a:path w="17527" h="17503" extrusionOk="0">
                        <a:moveTo>
                          <a:pt x="17527" y="1"/>
                        </a:moveTo>
                        <a:lnTo>
                          <a:pt x="1" y="17503"/>
                        </a:lnTo>
                        <a:lnTo>
                          <a:pt x="17527" y="17503"/>
                        </a:lnTo>
                        <a:lnTo>
                          <a:pt x="17527" y="1"/>
                        </a:ln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grpSp>
            <p:nvGrpSpPr>
              <p:cNvPr id="276" name="Google Shape;276;p8"/>
              <p:cNvGrpSpPr/>
              <p:nvPr/>
            </p:nvGrpSpPr>
            <p:grpSpPr>
              <a:xfrm>
                <a:off x="5909378" y="3494924"/>
                <a:ext cx="311836" cy="355292"/>
                <a:chOff x="4645650" y="3962900"/>
                <a:chExt cx="259950" cy="296175"/>
              </a:xfrm>
            </p:grpSpPr>
            <p:sp>
              <p:nvSpPr>
                <p:cNvPr id="277" name="Google Shape;277;p8"/>
                <p:cNvSpPr/>
                <p:nvPr/>
              </p:nvSpPr>
              <p:spPr>
                <a:xfrm>
                  <a:off x="4853600" y="4155100"/>
                  <a:ext cx="52000" cy="103975"/>
                </a:xfrm>
                <a:custGeom>
                  <a:avLst/>
                  <a:gdLst/>
                  <a:ahLst/>
                  <a:cxnLst/>
                  <a:rect l="l" t="t" r="r" b="b"/>
                  <a:pathLst>
                    <a:path w="2080" h="4159" extrusionOk="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78" name="Google Shape;278;p8"/>
                <p:cNvSpPr/>
                <p:nvPr/>
              </p:nvSpPr>
              <p:spPr>
                <a:xfrm>
                  <a:off x="4714975" y="4155100"/>
                  <a:ext cx="121300" cy="50625"/>
                </a:xfrm>
                <a:custGeom>
                  <a:avLst/>
                  <a:gdLst/>
                  <a:ahLst/>
                  <a:cxnLst/>
                  <a:rect l="l" t="t" r="r" b="b"/>
                  <a:pathLst>
                    <a:path w="4852" h="2025" extrusionOk="0">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79" name="Google Shape;279;p8"/>
                <p:cNvSpPr/>
                <p:nvPr/>
              </p:nvSpPr>
              <p:spPr>
                <a:xfrm>
                  <a:off x="4714975" y="4211025"/>
                  <a:ext cx="121300" cy="48050"/>
                </a:xfrm>
                <a:custGeom>
                  <a:avLst/>
                  <a:gdLst/>
                  <a:ahLst/>
                  <a:cxnLst/>
                  <a:rect l="l" t="t" r="r" b="b"/>
                  <a:pathLst>
                    <a:path w="4852" h="1922" extrusionOk="0">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80" name="Google Shape;280;p8"/>
                <p:cNvSpPr/>
                <p:nvPr/>
              </p:nvSpPr>
              <p:spPr>
                <a:xfrm>
                  <a:off x="4645650" y="4154300"/>
                  <a:ext cx="52025" cy="104775"/>
                </a:xfrm>
                <a:custGeom>
                  <a:avLst/>
                  <a:gdLst/>
                  <a:ahLst/>
                  <a:cxnLst/>
                  <a:rect l="l" t="t" r="r" b="b"/>
                  <a:pathLst>
                    <a:path w="2081" h="4191" extrusionOk="0">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81" name="Google Shape;281;p8"/>
                <p:cNvSpPr/>
                <p:nvPr/>
              </p:nvSpPr>
              <p:spPr>
                <a:xfrm>
                  <a:off x="4722850" y="4049550"/>
                  <a:ext cx="103975" cy="105575"/>
                </a:xfrm>
                <a:custGeom>
                  <a:avLst/>
                  <a:gdLst/>
                  <a:ahLst/>
                  <a:cxnLst/>
                  <a:rect l="l" t="t" r="r" b="b"/>
                  <a:pathLst>
                    <a:path w="4159" h="4223" extrusionOk="0">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82" name="Google Shape;282;p8"/>
                <p:cNvSpPr/>
                <p:nvPr/>
              </p:nvSpPr>
              <p:spPr>
                <a:xfrm>
                  <a:off x="4678725" y="3962900"/>
                  <a:ext cx="190650" cy="174100"/>
                </a:xfrm>
                <a:custGeom>
                  <a:avLst/>
                  <a:gdLst/>
                  <a:ahLst/>
                  <a:cxnLst/>
                  <a:rect l="l" t="t" r="r" b="b"/>
                  <a:pathLst>
                    <a:path w="7626" h="6964" extrusionOk="0">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grpSp>
          <p:nvGrpSpPr>
            <p:cNvPr id="283" name="Google Shape;283;p8"/>
            <p:cNvGrpSpPr/>
            <p:nvPr/>
          </p:nvGrpSpPr>
          <p:grpSpPr>
            <a:xfrm>
              <a:off x="5746163" y="3855109"/>
              <a:ext cx="462348" cy="245835"/>
              <a:chOff x="3891558" y="2180494"/>
              <a:chExt cx="346769" cy="184381"/>
            </a:xfrm>
          </p:grpSpPr>
          <p:sp>
            <p:nvSpPr>
              <p:cNvPr id="284" name="Google Shape;284;p8"/>
              <p:cNvSpPr/>
              <p:nvPr/>
            </p:nvSpPr>
            <p:spPr>
              <a:xfrm>
                <a:off x="3949943" y="2180494"/>
                <a:ext cx="230006" cy="184381"/>
              </a:xfrm>
              <a:custGeom>
                <a:avLst/>
                <a:gdLst/>
                <a:ahLst/>
                <a:cxnLst/>
                <a:rect l="l" t="t" r="r" b="b"/>
                <a:pathLst>
                  <a:path w="13324" h="10681" extrusionOk="0">
                    <a:moveTo>
                      <a:pt x="1369" y="1"/>
                    </a:moveTo>
                    <a:cubicBezTo>
                      <a:pt x="619" y="1"/>
                      <a:pt x="0" y="620"/>
                      <a:pt x="0" y="1370"/>
                    </a:cubicBezTo>
                    <a:lnTo>
                      <a:pt x="0" y="9311"/>
                    </a:lnTo>
                    <a:cubicBezTo>
                      <a:pt x="0" y="10073"/>
                      <a:pt x="619" y="10681"/>
                      <a:pt x="1369" y="10681"/>
                    </a:cubicBezTo>
                    <a:lnTo>
                      <a:pt x="3453" y="10681"/>
                    </a:lnTo>
                    <a:lnTo>
                      <a:pt x="3453" y="5906"/>
                    </a:lnTo>
                    <a:lnTo>
                      <a:pt x="9870" y="5906"/>
                    </a:lnTo>
                    <a:lnTo>
                      <a:pt x="9870" y="10681"/>
                    </a:lnTo>
                    <a:lnTo>
                      <a:pt x="11954" y="10681"/>
                    </a:lnTo>
                    <a:cubicBezTo>
                      <a:pt x="12704" y="10681"/>
                      <a:pt x="13323" y="10073"/>
                      <a:pt x="13323" y="9311"/>
                    </a:cubicBezTo>
                    <a:lnTo>
                      <a:pt x="13323" y="1370"/>
                    </a:lnTo>
                    <a:cubicBezTo>
                      <a:pt x="13323" y="620"/>
                      <a:pt x="12704" y="1"/>
                      <a:pt x="11954" y="1"/>
                    </a:cubicBezTo>
                    <a:lnTo>
                      <a:pt x="9870" y="1"/>
                    </a:lnTo>
                    <a:lnTo>
                      <a:pt x="9870" y="3966"/>
                    </a:lnTo>
                    <a:lnTo>
                      <a:pt x="3453" y="3966"/>
                    </a:lnTo>
                    <a:lnTo>
                      <a:pt x="3453" y="1"/>
                    </a:ln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85" name="Google Shape;285;p8"/>
              <p:cNvSpPr/>
              <p:nvPr/>
            </p:nvSpPr>
            <p:spPr>
              <a:xfrm>
                <a:off x="4187334" y="2198379"/>
                <a:ext cx="50993" cy="148820"/>
              </a:xfrm>
              <a:custGeom>
                <a:avLst/>
                <a:gdLst/>
                <a:ahLst/>
                <a:cxnLst/>
                <a:rect l="l" t="t" r="r" b="b"/>
                <a:pathLst>
                  <a:path w="2954" h="8621" extrusionOk="0">
                    <a:moveTo>
                      <a:pt x="1" y="1"/>
                    </a:moveTo>
                    <a:lnTo>
                      <a:pt x="1" y="8621"/>
                    </a:lnTo>
                    <a:lnTo>
                      <a:pt x="1108" y="8621"/>
                    </a:lnTo>
                    <a:cubicBezTo>
                      <a:pt x="1692" y="8621"/>
                      <a:pt x="2156" y="8144"/>
                      <a:pt x="2156" y="7573"/>
                    </a:cubicBezTo>
                    <a:lnTo>
                      <a:pt x="2156" y="5537"/>
                    </a:lnTo>
                    <a:lnTo>
                      <a:pt x="2454" y="5537"/>
                    </a:lnTo>
                    <a:cubicBezTo>
                      <a:pt x="2727" y="5537"/>
                      <a:pt x="2954" y="5311"/>
                      <a:pt x="2954" y="5037"/>
                    </a:cubicBezTo>
                    <a:lnTo>
                      <a:pt x="2954" y="3584"/>
                    </a:lnTo>
                    <a:cubicBezTo>
                      <a:pt x="2954" y="3299"/>
                      <a:pt x="2727" y="3084"/>
                      <a:pt x="2454" y="3084"/>
                    </a:cubicBezTo>
                    <a:lnTo>
                      <a:pt x="2156" y="3084"/>
                    </a:lnTo>
                    <a:lnTo>
                      <a:pt x="2156" y="1036"/>
                    </a:lnTo>
                    <a:cubicBezTo>
                      <a:pt x="2156" y="465"/>
                      <a:pt x="1692" y="1"/>
                      <a:pt x="1108" y="1"/>
                    </a:cubicBez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86" name="Google Shape;286;p8"/>
              <p:cNvSpPr/>
              <p:nvPr/>
            </p:nvSpPr>
            <p:spPr>
              <a:xfrm>
                <a:off x="3891558" y="2198379"/>
                <a:ext cx="50993" cy="148820"/>
              </a:xfrm>
              <a:custGeom>
                <a:avLst/>
                <a:gdLst/>
                <a:ahLst/>
                <a:cxnLst/>
                <a:rect l="l" t="t" r="r" b="b"/>
                <a:pathLst>
                  <a:path w="2954" h="8621" extrusionOk="0">
                    <a:moveTo>
                      <a:pt x="1846" y="1"/>
                    </a:moveTo>
                    <a:cubicBezTo>
                      <a:pt x="1263" y="1"/>
                      <a:pt x="799" y="465"/>
                      <a:pt x="799" y="1036"/>
                    </a:cubicBezTo>
                    <a:lnTo>
                      <a:pt x="799" y="3084"/>
                    </a:lnTo>
                    <a:lnTo>
                      <a:pt x="501" y="3084"/>
                    </a:lnTo>
                    <a:cubicBezTo>
                      <a:pt x="215" y="3084"/>
                      <a:pt x="1" y="3299"/>
                      <a:pt x="1" y="3584"/>
                    </a:cubicBezTo>
                    <a:lnTo>
                      <a:pt x="1" y="5037"/>
                    </a:lnTo>
                    <a:cubicBezTo>
                      <a:pt x="1" y="5311"/>
                      <a:pt x="215" y="5537"/>
                      <a:pt x="501" y="5537"/>
                    </a:cubicBezTo>
                    <a:lnTo>
                      <a:pt x="799" y="5537"/>
                    </a:lnTo>
                    <a:lnTo>
                      <a:pt x="799" y="7573"/>
                    </a:lnTo>
                    <a:cubicBezTo>
                      <a:pt x="799" y="8144"/>
                      <a:pt x="1263" y="8621"/>
                      <a:pt x="1846" y="8621"/>
                    </a:cubicBezTo>
                    <a:lnTo>
                      <a:pt x="2954" y="8621"/>
                    </a:lnTo>
                    <a:lnTo>
                      <a:pt x="2954" y="1"/>
                    </a:ln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0"/>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299" name="Google Shape;299;p10"/>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Montserrat"/>
                <a:ea typeface="Montserrat"/>
                <a:cs typeface="Montserrat"/>
                <a:sym typeface="Montserrat"/>
              </a:rPr>
              <a:t>Architecture  </a:t>
            </a:r>
            <a:endParaRPr sz="1400" b="0" i="0" u="none" strike="noStrike" cap="none">
              <a:solidFill>
                <a:srgbClr val="000000"/>
              </a:solidFill>
              <a:latin typeface="Arial"/>
              <a:ea typeface="Arial"/>
              <a:cs typeface="Arial"/>
              <a:sym typeface="Arial"/>
            </a:endParaRPr>
          </a:p>
        </p:txBody>
      </p:sp>
      <p:sp>
        <p:nvSpPr>
          <p:cNvPr id="300" name="Google Shape;300;p10"/>
          <p:cNvSpPr txBox="1"/>
          <p:nvPr/>
        </p:nvSpPr>
        <p:spPr>
          <a:xfrm>
            <a:off x="5100484" y="711896"/>
            <a:ext cx="5761800" cy="5735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b="1" dirty="0">
                <a:latin typeface="Verdana"/>
                <a:ea typeface="Verdana"/>
                <a:cs typeface="Verdana"/>
                <a:sym typeface="Verdana"/>
              </a:rPr>
              <a:t>Flow diagram</a:t>
            </a: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Verdana"/>
              <a:ea typeface="Verdana"/>
              <a:cs typeface="Verdana"/>
              <a:sym typeface="Verdana"/>
            </a:endParaRPr>
          </a:p>
        </p:txBody>
      </p:sp>
      <p:pic>
        <p:nvPicPr>
          <p:cNvPr id="301" name="Google Shape;301;p10"/>
          <p:cNvPicPr preferRelativeResize="0"/>
          <p:nvPr/>
        </p:nvPicPr>
        <p:blipFill>
          <a:blip r:embed="rId3">
            <a:alphaModFix/>
          </a:blip>
          <a:stretch>
            <a:fillRect/>
          </a:stretch>
        </p:blipFill>
        <p:spPr>
          <a:xfrm>
            <a:off x="2542675" y="1125956"/>
            <a:ext cx="7439524" cy="557964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9"/>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292" name="Google Shape;292;p9"/>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Montserrat"/>
                <a:ea typeface="Montserrat"/>
                <a:cs typeface="Montserrat"/>
                <a:sym typeface="Montserrat"/>
              </a:rPr>
              <a:t>Analysis – 4W1H</a:t>
            </a:r>
            <a:endParaRPr sz="1400" b="0" i="0" u="none" strike="noStrike" cap="none">
              <a:solidFill>
                <a:srgbClr val="000000"/>
              </a:solidFill>
              <a:latin typeface="Arial"/>
              <a:ea typeface="Arial"/>
              <a:cs typeface="Arial"/>
              <a:sym typeface="Arial"/>
            </a:endParaRPr>
          </a:p>
        </p:txBody>
      </p:sp>
      <p:sp>
        <p:nvSpPr>
          <p:cNvPr id="293" name="Google Shape;293;p9"/>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mj-lt"/>
                <a:ea typeface="Verdana"/>
                <a:cs typeface="Verdana"/>
                <a:sym typeface="Verdana"/>
              </a:rPr>
              <a:t>Why: </a:t>
            </a:r>
            <a:r>
              <a:rPr lang="en-US" b="0" i="0" dirty="0">
                <a:solidFill>
                  <a:srgbClr val="000000"/>
                </a:solidFill>
                <a:effectLst/>
                <a:latin typeface="+mj-lt"/>
              </a:rPr>
              <a:t>The problem of atmospheric mismatches, reflection effects, and polarization mismatches occurs in the establishment of communication links. The greatest problem among these arises due to polarization mismatches between the transmitting and receiving antennas. To overcome polarization mismatches, circularly polarized antennas are employed. However, complicated feeding techniques may not be feasible.</a:t>
            </a:r>
          </a:p>
          <a:p>
            <a:pPr marL="0" marR="0" lvl="0" indent="0" rtl="0">
              <a:lnSpc>
                <a:spcPct val="100000"/>
              </a:lnSpc>
              <a:spcBef>
                <a:spcPts val="0"/>
              </a:spcBef>
              <a:spcAft>
                <a:spcPts val="0"/>
              </a:spcAft>
              <a:buClr>
                <a:srgbClr val="000000"/>
              </a:buClr>
              <a:buSzPts val="1400"/>
              <a:buFont typeface="Arial"/>
              <a:buNone/>
            </a:pPr>
            <a:endParaRPr dirty="0">
              <a:latin typeface="+mj-lt"/>
            </a:endParaRPr>
          </a:p>
          <a:p>
            <a:pPr marL="285750" marR="0" lvl="0" indent="-196850" rtl="0">
              <a:lnSpc>
                <a:spcPct val="100000"/>
              </a:lnSpc>
              <a:spcBef>
                <a:spcPts val="0"/>
              </a:spcBef>
              <a:spcAft>
                <a:spcPts val="0"/>
              </a:spcAft>
              <a:buClr>
                <a:srgbClr val="000000"/>
              </a:buClr>
              <a:buSzPts val="1400"/>
              <a:buFont typeface="Arial"/>
              <a:buNone/>
            </a:pPr>
            <a:endParaRPr lang="en-US" sz="1400" b="0" i="0" u="none" strike="noStrike" cap="none" dirty="0">
              <a:solidFill>
                <a:srgbClr val="000000"/>
              </a:solidFill>
              <a:latin typeface="+mj-lt"/>
              <a:ea typeface="Verdana"/>
              <a:cs typeface="Verdana"/>
              <a:sym typeface="Verdana"/>
            </a:endParaRPr>
          </a:p>
          <a:p>
            <a:pPr marL="285750" marR="0" lvl="0" indent="-196850"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mj-lt"/>
              <a:ea typeface="Verdana"/>
              <a:cs typeface="Verdana"/>
              <a:sym typeface="Verdana"/>
            </a:endParaRPr>
          </a:p>
          <a:p>
            <a:pPr marL="0" marR="0" lvl="0" indent="0" rtl="0">
              <a:lnSpc>
                <a:spcPct val="100000"/>
              </a:lnSpc>
              <a:spcBef>
                <a:spcPts val="0"/>
              </a:spcBef>
              <a:spcAft>
                <a:spcPts val="0"/>
              </a:spcAft>
              <a:buNone/>
            </a:pPr>
            <a:r>
              <a:rPr lang="en-US" sz="1400" b="1" i="0" u="none" strike="noStrike" cap="none" dirty="0">
                <a:solidFill>
                  <a:srgbClr val="000000"/>
                </a:solidFill>
                <a:latin typeface="+mj-lt"/>
                <a:ea typeface="Verdana"/>
                <a:cs typeface="Verdana"/>
                <a:sym typeface="Verdana"/>
              </a:rPr>
              <a:t>What: </a:t>
            </a:r>
            <a:r>
              <a:rPr lang="en-US" sz="1400" u="none" strike="noStrike" cap="none" dirty="0">
                <a:latin typeface="+mj-lt"/>
                <a:ea typeface="Verdana"/>
                <a:cs typeface="Verdana"/>
                <a:sym typeface="Verdana"/>
              </a:rPr>
              <a:t>We</a:t>
            </a:r>
            <a:r>
              <a:rPr lang="en-US" b="0" i="0" dirty="0">
                <a:solidFill>
                  <a:srgbClr val="000000"/>
                </a:solidFill>
                <a:effectLst/>
                <a:latin typeface="+mj-lt"/>
              </a:rPr>
              <a:t> are designing a meta surface-based polarization converter that transforms linearly polarized EM waves into circularly polarized EM waves. You also design a 5G antenna and observe the impact of the meta surface on the antenna's performance, especially concerning polarization conversion.</a:t>
            </a:r>
            <a:endParaRPr dirty="0">
              <a:latin typeface="+mj-lt"/>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mj-lt"/>
              <a:ea typeface="Verdana"/>
              <a:cs typeface="Verdana"/>
              <a:sym typeface="Verdana"/>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mj-lt"/>
              <a:ea typeface="Verdana"/>
              <a:cs typeface="Verdana"/>
              <a:sym typeface="Verdana"/>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mj-lt"/>
              <a:ea typeface="Verdana"/>
              <a:cs typeface="Verdana"/>
              <a:sym typeface="Verdana"/>
            </a:endParaRPr>
          </a:p>
          <a:p>
            <a:pPr marL="0" marR="0" lvl="0" indent="0" rtl="0">
              <a:lnSpc>
                <a:spcPct val="100000"/>
              </a:lnSpc>
              <a:spcBef>
                <a:spcPts val="0"/>
              </a:spcBef>
              <a:spcAft>
                <a:spcPts val="0"/>
              </a:spcAft>
              <a:buNone/>
            </a:pPr>
            <a:r>
              <a:rPr lang="en-US" sz="1400" b="1" i="0" u="none" strike="noStrike" cap="none" dirty="0">
                <a:solidFill>
                  <a:srgbClr val="000000"/>
                </a:solidFill>
                <a:latin typeface="+mj-lt"/>
                <a:ea typeface="Verdana"/>
                <a:cs typeface="Verdana"/>
                <a:sym typeface="Verdana"/>
              </a:rPr>
              <a:t>Where: </a:t>
            </a:r>
            <a:r>
              <a:rPr lang="en-US" b="0" i="0" dirty="0">
                <a:solidFill>
                  <a:srgbClr val="000000"/>
                </a:solidFill>
                <a:effectLst/>
                <a:latin typeface="+mj-lt"/>
              </a:rPr>
              <a:t>Polarization converter's frequency band: 4-8 GHz; the frequency band of antenna design focused on the 5G communication system, </a:t>
            </a:r>
            <a:r>
              <a:rPr lang="en-US" dirty="0">
                <a:latin typeface="+mj-lt"/>
              </a:rPr>
              <a:t>We are </a:t>
            </a:r>
            <a:r>
              <a:rPr lang="en-US" b="0" i="0" dirty="0">
                <a:solidFill>
                  <a:srgbClr val="000000"/>
                </a:solidFill>
                <a:effectLst/>
                <a:latin typeface="+mj-lt"/>
              </a:rPr>
              <a:t>using Ansys simulation tool, version 2024 for this project.</a:t>
            </a:r>
            <a:endParaRPr dirty="0">
              <a:latin typeface="+mj-lt"/>
            </a:endParaRPr>
          </a:p>
          <a:p>
            <a:pPr marL="0" marR="0" lvl="0" indent="0" algn="l" rtl="0">
              <a:lnSpc>
                <a:spcPct val="100000"/>
              </a:lnSpc>
              <a:spcBef>
                <a:spcPts val="0"/>
              </a:spcBef>
              <a:spcAft>
                <a:spcPts val="0"/>
              </a:spcAft>
              <a:buNone/>
            </a:pPr>
            <a:endParaRPr lang="en-US" sz="1400" b="0" i="0" u="none" strike="noStrike" cap="none" dirty="0">
              <a:solidFill>
                <a:srgbClr val="000000"/>
              </a:solidFill>
              <a:latin typeface="+mj-lt"/>
              <a:ea typeface="Verdana"/>
              <a:cs typeface="Verdana"/>
              <a:sym typeface="Verdana"/>
            </a:endParaRPr>
          </a:p>
          <a:p>
            <a:pPr marL="0" marR="0" lvl="0" indent="0" algn="l" rtl="0">
              <a:lnSpc>
                <a:spcPct val="100000"/>
              </a:lnSpc>
              <a:spcBef>
                <a:spcPts val="0"/>
              </a:spcBef>
              <a:spcAft>
                <a:spcPts val="0"/>
              </a:spcAft>
              <a:buNone/>
            </a:pPr>
            <a:endParaRPr lang="en-US" dirty="0">
              <a:latin typeface="+mj-lt"/>
              <a:ea typeface="Verdana"/>
              <a:cs typeface="Verdana"/>
              <a:sym typeface="Verdana"/>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mj-lt"/>
              <a:ea typeface="Verdana"/>
              <a:cs typeface="Verdana"/>
              <a:sym typeface="Verdana"/>
            </a:endParaRPr>
          </a:p>
          <a:p>
            <a:pPr marL="0" marR="0" lvl="0" indent="0" rtl="0">
              <a:lnSpc>
                <a:spcPct val="100000"/>
              </a:lnSpc>
              <a:spcBef>
                <a:spcPts val="0"/>
              </a:spcBef>
              <a:spcAft>
                <a:spcPts val="0"/>
              </a:spcAft>
              <a:buNone/>
            </a:pPr>
            <a:r>
              <a:rPr lang="en-US" sz="1400" b="1" i="0" u="none" strike="noStrike" cap="none" dirty="0">
                <a:solidFill>
                  <a:srgbClr val="000000"/>
                </a:solidFill>
                <a:latin typeface="+mj-lt"/>
                <a:ea typeface="Verdana"/>
                <a:cs typeface="Verdana"/>
                <a:sym typeface="Verdana"/>
              </a:rPr>
              <a:t>How: </a:t>
            </a:r>
            <a:r>
              <a:rPr lang="en-US" dirty="0">
                <a:latin typeface="+mj-lt"/>
                <a:ea typeface="Verdana"/>
                <a:cs typeface="Verdana"/>
                <a:sym typeface="Verdana"/>
              </a:rPr>
              <a:t>we </a:t>
            </a:r>
            <a:r>
              <a:rPr lang="en-US" b="0" i="0" dirty="0">
                <a:solidFill>
                  <a:srgbClr val="000000"/>
                </a:solidFill>
                <a:effectLst/>
                <a:latin typeface="+mj-lt"/>
              </a:rPr>
              <a:t>Integrate the antenna with the meta surface as a superstrate for converting linear polarization of an incident EM wave into circular polarization, thus removing all the detrimental effects of polarization mismatching without altering feeding techniques. We discuss also how this meta surface affects other parameters of the antenna.</a:t>
            </a:r>
            <a:endParaRPr sz="1400" b="0" i="0" u="none" strike="noStrike" cap="none" dirty="0">
              <a:solidFill>
                <a:srgbClr val="000000"/>
              </a:solidFill>
              <a:latin typeface="+mj-lt"/>
              <a:ea typeface="Verdana"/>
              <a:cs typeface="Verdana"/>
              <a:sym typeface="Verdana"/>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0"/>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
        <p:nvSpPr>
          <p:cNvPr id="299" name="Google Shape;299;p10"/>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  </a:t>
            </a:r>
            <a:endParaRPr sz="1400" b="0" i="0" u="none" strike="noStrike" cap="none" dirty="0">
              <a:solidFill>
                <a:srgbClr val="000000"/>
              </a:solidFill>
              <a:latin typeface="Arial"/>
              <a:ea typeface="Arial"/>
              <a:cs typeface="Arial"/>
              <a:sym typeface="Arial"/>
            </a:endParaRPr>
          </a:p>
        </p:txBody>
      </p:sp>
      <p:sp>
        <p:nvSpPr>
          <p:cNvPr id="300" name="Google Shape;300;p10"/>
          <p:cNvSpPr txBox="1"/>
          <p:nvPr/>
        </p:nvSpPr>
        <p:spPr>
          <a:xfrm>
            <a:off x="1435510" y="479203"/>
            <a:ext cx="8905664"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2000" b="1" i="0" u="none" strike="noStrike" cap="none" dirty="0">
                <a:solidFill>
                  <a:srgbClr val="000000"/>
                </a:solidFill>
                <a:latin typeface="Verdana"/>
                <a:ea typeface="Verdana"/>
                <a:cs typeface="Verdana"/>
                <a:sym typeface="Verdana"/>
              </a:rPr>
              <a:t>Structural Diagram</a:t>
            </a:r>
            <a:endParaRPr sz="2000" dirty="0"/>
          </a:p>
          <a:p>
            <a:pPr marL="0" marR="0" lvl="0" indent="0" algn="ctr" rtl="0">
              <a:lnSpc>
                <a:spcPct val="100000"/>
              </a:lnSpc>
              <a:spcBef>
                <a:spcPts val="0"/>
              </a:spcBef>
              <a:spcAft>
                <a:spcPts val="0"/>
              </a:spcAft>
              <a:buNone/>
            </a:pPr>
            <a:endParaRPr sz="2000" b="0" i="0" u="none" strike="noStrike" cap="none" dirty="0">
              <a:solidFill>
                <a:srgbClr val="000000"/>
              </a:solidFill>
              <a:latin typeface="Verdana"/>
              <a:ea typeface="Verdana"/>
              <a:cs typeface="Verdana"/>
              <a:sym typeface="Verdana"/>
            </a:endParaRPr>
          </a:p>
        </p:txBody>
      </p:sp>
      <p:pic>
        <p:nvPicPr>
          <p:cNvPr id="3" name="Picture 2">
            <a:extLst>
              <a:ext uri="{FF2B5EF4-FFF2-40B4-BE49-F238E27FC236}">
                <a16:creationId xmlns:a16="http://schemas.microsoft.com/office/drawing/2014/main" id="{BE24C748-BE56-F6B9-25EF-D4946D82AB4A}"/>
              </a:ext>
            </a:extLst>
          </p:cNvPr>
          <p:cNvPicPr>
            <a:picLocks noChangeAspect="1"/>
          </p:cNvPicPr>
          <p:nvPr/>
        </p:nvPicPr>
        <p:blipFill>
          <a:blip r:embed="rId3"/>
          <a:srcRect r="34839"/>
          <a:stretch/>
        </p:blipFill>
        <p:spPr>
          <a:xfrm>
            <a:off x="1435510" y="899611"/>
            <a:ext cx="9694607" cy="5725706"/>
          </a:xfrm>
          <a:prstGeom prst="rect">
            <a:avLst/>
          </a:prstGeom>
        </p:spPr>
      </p:pic>
    </p:spTree>
    <p:extLst>
      <p:ext uri="{BB962C8B-B14F-4D97-AF65-F5344CB8AC3E}">
        <p14:creationId xmlns:p14="http://schemas.microsoft.com/office/powerpoint/2010/main" val="1561935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2"/>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315" name="Google Shape;315;p12"/>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Montserrat"/>
                <a:ea typeface="Montserrat"/>
                <a:cs typeface="Montserrat"/>
                <a:sym typeface="Montserrat"/>
              </a:rPr>
              <a:t>Implementation and Results – Iteration 1 </a:t>
            </a:r>
            <a:endParaRPr sz="1400" b="0" i="0" u="none" strike="noStrike" cap="none">
              <a:solidFill>
                <a:srgbClr val="000000"/>
              </a:solidFill>
              <a:latin typeface="Arial"/>
              <a:ea typeface="Arial"/>
              <a:cs typeface="Arial"/>
              <a:sym typeface="Arial"/>
            </a:endParaRPr>
          </a:p>
        </p:txBody>
      </p:sp>
      <p:sp>
        <p:nvSpPr>
          <p:cNvPr id="316" name="Google Shape;316;p12"/>
          <p:cNvSpPr txBox="1"/>
          <p:nvPr/>
        </p:nvSpPr>
        <p:spPr>
          <a:xfrm>
            <a:off x="432619" y="889964"/>
            <a:ext cx="11326761" cy="573576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Verdana"/>
                <a:ea typeface="Verdana"/>
                <a:cs typeface="Verdana"/>
                <a:sym typeface="Verdana"/>
              </a:rPr>
              <a:t>Iteration 1 : </a:t>
            </a:r>
            <a:endParaRPr dirty="0"/>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Verdana"/>
              <a:ea typeface="Verdana"/>
              <a:cs typeface="Verdana"/>
              <a:sym typeface="Verdana"/>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Verdana"/>
              <a:ea typeface="Verdana"/>
              <a:cs typeface="Verdana"/>
              <a:sym typeface="Verdana"/>
            </a:endParaRPr>
          </a:p>
        </p:txBody>
      </p:sp>
      <p:pic>
        <p:nvPicPr>
          <p:cNvPr id="3" name="Picture 2">
            <a:extLst>
              <a:ext uri="{FF2B5EF4-FFF2-40B4-BE49-F238E27FC236}">
                <a16:creationId xmlns:a16="http://schemas.microsoft.com/office/drawing/2014/main" id="{89BAE9DC-9694-395B-E4E0-184AAB0F587F}"/>
              </a:ext>
            </a:extLst>
          </p:cNvPr>
          <p:cNvPicPr>
            <a:picLocks noChangeAspect="1"/>
          </p:cNvPicPr>
          <p:nvPr/>
        </p:nvPicPr>
        <p:blipFill>
          <a:blip r:embed="rId3"/>
          <a:srcRect l="6755"/>
          <a:stretch/>
        </p:blipFill>
        <p:spPr>
          <a:xfrm>
            <a:off x="-1" y="1440292"/>
            <a:ext cx="4119717" cy="4485285"/>
          </a:xfrm>
          <a:prstGeom prst="rect">
            <a:avLst/>
          </a:prstGeom>
        </p:spPr>
      </p:pic>
      <p:pic>
        <p:nvPicPr>
          <p:cNvPr id="5" name="Picture 4">
            <a:extLst>
              <a:ext uri="{FF2B5EF4-FFF2-40B4-BE49-F238E27FC236}">
                <a16:creationId xmlns:a16="http://schemas.microsoft.com/office/drawing/2014/main" id="{2769C61A-4C49-AAC9-4F83-5B6698E3C945}"/>
              </a:ext>
            </a:extLst>
          </p:cNvPr>
          <p:cNvPicPr>
            <a:picLocks noChangeAspect="1"/>
          </p:cNvPicPr>
          <p:nvPr/>
        </p:nvPicPr>
        <p:blipFill>
          <a:blip r:embed="rId4"/>
          <a:stretch>
            <a:fillRect/>
          </a:stretch>
        </p:blipFill>
        <p:spPr>
          <a:xfrm>
            <a:off x="3844412" y="1993306"/>
            <a:ext cx="8379719" cy="32767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2"/>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315" name="Google Shape;315;p12"/>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2 </a:t>
            </a:r>
            <a:endParaRPr sz="1400" b="0" i="0" u="none" strike="noStrike" cap="none" dirty="0">
              <a:solidFill>
                <a:srgbClr val="000000"/>
              </a:solidFill>
              <a:latin typeface="Arial"/>
              <a:ea typeface="Arial"/>
              <a:cs typeface="Arial"/>
              <a:sym typeface="Arial"/>
            </a:endParaRPr>
          </a:p>
        </p:txBody>
      </p:sp>
      <p:sp>
        <p:nvSpPr>
          <p:cNvPr id="316" name="Google Shape;316;p12"/>
          <p:cNvSpPr txBox="1"/>
          <p:nvPr/>
        </p:nvSpPr>
        <p:spPr>
          <a:xfrm>
            <a:off x="432619" y="889964"/>
            <a:ext cx="11326761" cy="573576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Verdana"/>
                <a:ea typeface="Verdana"/>
                <a:cs typeface="Verdana"/>
                <a:sym typeface="Verdana"/>
              </a:rPr>
              <a:t>Iteration </a:t>
            </a:r>
            <a:r>
              <a:rPr lang="en-US" b="1" dirty="0">
                <a:latin typeface="Verdana"/>
                <a:ea typeface="Verdana"/>
                <a:cs typeface="Verdana"/>
                <a:sym typeface="Verdana"/>
              </a:rPr>
              <a:t>2:</a:t>
            </a:r>
            <a:r>
              <a:rPr lang="en-US" sz="1400" b="1" i="0" u="none" strike="noStrike" cap="none" dirty="0">
                <a:solidFill>
                  <a:srgbClr val="000000"/>
                </a:solidFill>
                <a:latin typeface="Verdana"/>
                <a:ea typeface="Verdana"/>
                <a:cs typeface="Verdana"/>
                <a:sym typeface="Verdana"/>
              </a:rPr>
              <a:t> </a:t>
            </a:r>
            <a:endParaRPr dirty="0"/>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Verdana"/>
              <a:ea typeface="Verdana"/>
              <a:cs typeface="Verdana"/>
              <a:sym typeface="Verdana"/>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Verdana"/>
              <a:ea typeface="Verdana"/>
              <a:cs typeface="Verdana"/>
              <a:sym typeface="Verdana"/>
            </a:endParaRPr>
          </a:p>
        </p:txBody>
      </p:sp>
      <p:pic>
        <p:nvPicPr>
          <p:cNvPr id="4" name="Picture 3">
            <a:extLst>
              <a:ext uri="{FF2B5EF4-FFF2-40B4-BE49-F238E27FC236}">
                <a16:creationId xmlns:a16="http://schemas.microsoft.com/office/drawing/2014/main" id="{19441CC8-F49C-48BE-9930-578684FD6AC0}"/>
              </a:ext>
            </a:extLst>
          </p:cNvPr>
          <p:cNvPicPr>
            <a:picLocks noChangeAspect="1"/>
          </p:cNvPicPr>
          <p:nvPr/>
        </p:nvPicPr>
        <p:blipFill>
          <a:blip r:embed="rId3"/>
          <a:stretch>
            <a:fillRect/>
          </a:stretch>
        </p:blipFill>
        <p:spPr>
          <a:xfrm>
            <a:off x="0" y="1578439"/>
            <a:ext cx="4172072" cy="4252085"/>
          </a:xfrm>
          <a:prstGeom prst="rect">
            <a:avLst/>
          </a:prstGeom>
        </p:spPr>
      </p:pic>
      <p:pic>
        <p:nvPicPr>
          <p:cNvPr id="7" name="Picture 6">
            <a:extLst>
              <a:ext uri="{FF2B5EF4-FFF2-40B4-BE49-F238E27FC236}">
                <a16:creationId xmlns:a16="http://schemas.microsoft.com/office/drawing/2014/main" id="{D24F9691-9BE2-EE35-BE8D-14F1231E9BBE}"/>
              </a:ext>
            </a:extLst>
          </p:cNvPr>
          <p:cNvPicPr>
            <a:picLocks noChangeAspect="1"/>
          </p:cNvPicPr>
          <p:nvPr/>
        </p:nvPicPr>
        <p:blipFill>
          <a:blip r:embed="rId4"/>
          <a:stretch>
            <a:fillRect/>
          </a:stretch>
        </p:blipFill>
        <p:spPr>
          <a:xfrm>
            <a:off x="3965045" y="2123767"/>
            <a:ext cx="8226955" cy="3217048"/>
          </a:xfrm>
          <a:prstGeom prst="rect">
            <a:avLst/>
          </a:prstGeom>
        </p:spPr>
      </p:pic>
    </p:spTree>
    <p:extLst>
      <p:ext uri="{BB962C8B-B14F-4D97-AF65-F5344CB8AC3E}">
        <p14:creationId xmlns:p14="http://schemas.microsoft.com/office/powerpoint/2010/main" val="2510799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2"/>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315" name="Google Shape;315;p12"/>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 Iteration </a:t>
            </a:r>
            <a:r>
              <a:rPr lang="en-US" sz="2400" b="1" dirty="0">
                <a:latin typeface="Montserrat"/>
                <a:ea typeface="Montserrat"/>
                <a:cs typeface="Montserrat"/>
                <a:sym typeface="Montserrat"/>
              </a:rPr>
              <a:t>3</a:t>
            </a:r>
            <a:r>
              <a:rPr lang="en-US" sz="2400" b="1" i="0" u="none" strike="noStrike" cap="none" dirty="0">
                <a:solidFill>
                  <a:srgbClr val="000000"/>
                </a:solidFill>
                <a:latin typeface="Montserrat"/>
                <a:ea typeface="Montserrat"/>
                <a:cs typeface="Montserrat"/>
                <a:sym typeface="Montserrat"/>
              </a:rPr>
              <a:t> </a:t>
            </a:r>
            <a:endParaRPr sz="1400" b="0" i="0" u="none" strike="noStrike" cap="none" dirty="0">
              <a:solidFill>
                <a:srgbClr val="000000"/>
              </a:solidFill>
              <a:latin typeface="Arial"/>
              <a:ea typeface="Arial"/>
              <a:cs typeface="Arial"/>
              <a:sym typeface="Arial"/>
            </a:endParaRPr>
          </a:p>
        </p:txBody>
      </p:sp>
      <p:sp>
        <p:nvSpPr>
          <p:cNvPr id="316" name="Google Shape;316;p12"/>
          <p:cNvSpPr txBox="1"/>
          <p:nvPr/>
        </p:nvSpPr>
        <p:spPr>
          <a:xfrm>
            <a:off x="432619" y="889964"/>
            <a:ext cx="11326761" cy="573576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Verdana"/>
                <a:ea typeface="Verdana"/>
                <a:cs typeface="Verdana"/>
                <a:sym typeface="Verdana"/>
              </a:rPr>
              <a:t>Iteration 3</a:t>
            </a:r>
            <a:r>
              <a:rPr lang="en-US" b="1" dirty="0">
                <a:latin typeface="Verdana"/>
                <a:ea typeface="Verdana"/>
                <a:cs typeface="Verdana"/>
                <a:sym typeface="Verdana"/>
              </a:rPr>
              <a:t>:</a:t>
            </a:r>
            <a:r>
              <a:rPr lang="en-US" sz="1400" b="1" i="0" u="none" strike="noStrike" cap="none" dirty="0">
                <a:solidFill>
                  <a:srgbClr val="000000"/>
                </a:solidFill>
                <a:latin typeface="Verdana"/>
                <a:ea typeface="Verdana"/>
                <a:cs typeface="Verdana"/>
                <a:sym typeface="Verdana"/>
              </a:rPr>
              <a:t> </a:t>
            </a:r>
            <a:endParaRPr dirty="0"/>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Verdana"/>
              <a:ea typeface="Verdana"/>
              <a:cs typeface="Verdana"/>
              <a:sym typeface="Verdana"/>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Verdana"/>
              <a:ea typeface="Verdana"/>
              <a:cs typeface="Verdana"/>
              <a:sym typeface="Verdana"/>
            </a:endParaRPr>
          </a:p>
        </p:txBody>
      </p:sp>
      <p:pic>
        <p:nvPicPr>
          <p:cNvPr id="6" name="Picture 5">
            <a:extLst>
              <a:ext uri="{FF2B5EF4-FFF2-40B4-BE49-F238E27FC236}">
                <a16:creationId xmlns:a16="http://schemas.microsoft.com/office/drawing/2014/main" id="{C0260BA3-2DE8-D96C-6B95-71283B5B4BE0}"/>
              </a:ext>
            </a:extLst>
          </p:cNvPr>
          <p:cNvPicPr>
            <a:picLocks noChangeAspect="1"/>
          </p:cNvPicPr>
          <p:nvPr/>
        </p:nvPicPr>
        <p:blipFill>
          <a:blip r:embed="rId3"/>
          <a:stretch>
            <a:fillRect/>
          </a:stretch>
        </p:blipFill>
        <p:spPr>
          <a:xfrm>
            <a:off x="1654546" y="1361462"/>
            <a:ext cx="9111777" cy="5428095"/>
          </a:xfrm>
          <a:prstGeom prst="rect">
            <a:avLst/>
          </a:prstGeom>
        </p:spPr>
      </p:pic>
    </p:spTree>
    <p:extLst>
      <p:ext uri="{BB962C8B-B14F-4D97-AF65-F5344CB8AC3E}">
        <p14:creationId xmlns:p14="http://schemas.microsoft.com/office/powerpoint/2010/main" val="2263956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2"/>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315" name="Google Shape;315;p12"/>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 Results – Iteration 3 </a:t>
            </a:r>
            <a:endParaRPr sz="1400" b="0" i="0" u="none" strike="noStrike" cap="none" dirty="0">
              <a:solidFill>
                <a:srgbClr val="000000"/>
              </a:solidFill>
              <a:latin typeface="Arial"/>
              <a:ea typeface="Arial"/>
              <a:cs typeface="Arial"/>
              <a:sym typeface="Arial"/>
            </a:endParaRPr>
          </a:p>
        </p:txBody>
      </p:sp>
      <p:sp>
        <p:nvSpPr>
          <p:cNvPr id="316" name="Google Shape;316;p12"/>
          <p:cNvSpPr txBox="1"/>
          <p:nvPr/>
        </p:nvSpPr>
        <p:spPr>
          <a:xfrm>
            <a:off x="432619" y="889964"/>
            <a:ext cx="11326761" cy="573576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Verdana"/>
                <a:ea typeface="Verdana"/>
                <a:cs typeface="Verdana"/>
                <a:sym typeface="Verdana"/>
              </a:rPr>
              <a:t>Iteration 3 : </a:t>
            </a:r>
            <a:endParaRPr dirty="0"/>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Verdana"/>
              <a:ea typeface="Verdana"/>
              <a:cs typeface="Verdana"/>
              <a:sym typeface="Verdana"/>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Verdana"/>
              <a:ea typeface="Verdana"/>
              <a:cs typeface="Verdana"/>
              <a:sym typeface="Verdana"/>
            </a:endParaRPr>
          </a:p>
        </p:txBody>
      </p:sp>
      <p:pic>
        <p:nvPicPr>
          <p:cNvPr id="2" name="Picture 1">
            <a:extLst>
              <a:ext uri="{FF2B5EF4-FFF2-40B4-BE49-F238E27FC236}">
                <a16:creationId xmlns:a16="http://schemas.microsoft.com/office/drawing/2014/main" id="{10E0971D-5B6F-AA89-5ED3-D91704C63C6F}"/>
              </a:ext>
            </a:extLst>
          </p:cNvPr>
          <p:cNvPicPr>
            <a:picLocks noChangeAspect="1"/>
          </p:cNvPicPr>
          <p:nvPr/>
        </p:nvPicPr>
        <p:blipFill>
          <a:blip r:embed="rId3"/>
          <a:stretch>
            <a:fillRect/>
          </a:stretch>
        </p:blipFill>
        <p:spPr>
          <a:xfrm>
            <a:off x="-1" y="1493071"/>
            <a:ext cx="12192000" cy="4767529"/>
          </a:xfrm>
          <a:prstGeom prst="rect">
            <a:avLst/>
          </a:prstGeom>
        </p:spPr>
      </p:pic>
    </p:spTree>
    <p:extLst>
      <p:ext uri="{BB962C8B-B14F-4D97-AF65-F5344CB8AC3E}">
        <p14:creationId xmlns:p14="http://schemas.microsoft.com/office/powerpoint/2010/main" val="397714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6"/>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344" name="Google Shape;344;p16"/>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Montserrat"/>
                <a:ea typeface="Montserrat"/>
                <a:cs typeface="Montserrat"/>
                <a:sym typeface="Montserrat"/>
              </a:rPr>
              <a:t>Conclusion &amp; Future Work</a:t>
            </a:r>
            <a:endParaRPr sz="1400" b="0" i="0" u="none" strike="noStrike" cap="none">
              <a:solidFill>
                <a:srgbClr val="000000"/>
              </a:solidFill>
              <a:latin typeface="Arial"/>
              <a:ea typeface="Arial"/>
              <a:cs typeface="Arial"/>
              <a:sym typeface="Arial"/>
            </a:endParaRPr>
          </a:p>
        </p:txBody>
      </p:sp>
      <p:sp>
        <p:nvSpPr>
          <p:cNvPr id="345" name="Google Shape;345;p16"/>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000000"/>
                </a:solidFill>
                <a:latin typeface="Verdana"/>
                <a:ea typeface="Verdana"/>
                <a:cs typeface="Verdana"/>
                <a:sym typeface="Verdana"/>
              </a:rPr>
              <a:t>Summary and Conclusion</a:t>
            </a:r>
          </a:p>
          <a:p>
            <a:pPr marL="0" marR="0" lvl="0" indent="0" algn="l" rtl="0">
              <a:lnSpc>
                <a:spcPct val="100000"/>
              </a:lnSpc>
              <a:spcBef>
                <a:spcPts val="0"/>
              </a:spcBef>
              <a:spcAft>
                <a:spcPts val="0"/>
              </a:spcAft>
              <a:buClr>
                <a:srgbClr val="000000"/>
              </a:buClr>
              <a:buSzPts val="1400"/>
              <a:buFont typeface="Arial"/>
              <a:buNone/>
            </a:pPr>
            <a:r>
              <a:rPr lang="en-US" sz="1600" b="0" i="0" dirty="0">
                <a:solidFill>
                  <a:srgbClr val="000000"/>
                </a:solidFill>
                <a:effectLst/>
                <a:latin typeface="+mj-lt"/>
                <a:cs typeface="Times New Roman" panose="02020603050405020304" pitchFamily="18" charset="0"/>
              </a:rPr>
              <a:t>In our simulation using Ansys 2024, we designed a metasurface of a size 10x10 mm in width 1.6 mm. It had three distinct linear polarization bands and a near-circular polarization band. With further fine-tuning of the structure, one may obtain multiple circular polarization bands without changing the feeding technique. This is an evidence that the metasurface is very flexible in its capability to control polarization and therefore is best suited for high-level applications such as communication systems, sensors, and radar technologies.</a:t>
            </a:r>
            <a:r>
              <a:rPr lang="en-US" sz="1600" b="1" i="0" u="none" strike="noStrike" cap="none" dirty="0">
                <a:solidFill>
                  <a:srgbClr val="000000"/>
                </a:solidFill>
                <a:latin typeface="+mj-lt"/>
                <a:ea typeface="Verdana"/>
                <a:cs typeface="Times New Roman" panose="02020603050405020304" pitchFamily="18" charset="0"/>
                <a:sym typeface="Verdana"/>
              </a:rPr>
              <a:t> </a:t>
            </a:r>
            <a:endParaRPr sz="1600" dirty="0">
              <a:latin typeface="+mj-lt"/>
              <a:cs typeface="Times New Roman" panose="02020603050405020304" pitchFamily="18" charset="0"/>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Verdana"/>
              <a:ea typeface="Verdana"/>
              <a:cs typeface="Verdana"/>
              <a:sym typeface="Verdana"/>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Verdana"/>
              <a:ea typeface="Verdana"/>
              <a:cs typeface="Verdana"/>
              <a:sym typeface="Verdana"/>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Verdana"/>
                <a:ea typeface="Verdana"/>
                <a:cs typeface="Verdana"/>
                <a:sym typeface="Verdana"/>
              </a:rPr>
              <a:t>Future Work</a:t>
            </a:r>
          </a:p>
          <a:p>
            <a:pPr marL="0" marR="0" lvl="0" indent="0" algn="l" rtl="0">
              <a:lnSpc>
                <a:spcPct val="100000"/>
              </a:lnSpc>
              <a:spcBef>
                <a:spcPts val="0"/>
              </a:spcBef>
              <a:spcAft>
                <a:spcPts val="0"/>
              </a:spcAft>
              <a:buNone/>
            </a:pPr>
            <a:r>
              <a:rPr lang="en-US" sz="1600" b="0" i="0" dirty="0">
                <a:solidFill>
                  <a:srgbClr val="000000"/>
                </a:solidFill>
                <a:effectLst/>
                <a:latin typeface="+mj-lt"/>
              </a:rPr>
              <a:t>Future work can then be dedicated to the extension of the polarization conversion beyond a single frequency bands. The inclusion of tunable elements like varactors or diodes will allow for real-time reconfiguration. Broadband designs will have non-inefficient conversions over wider bands than those exhibited here. Finally, multi-mode polarization control along with integration with active devices will further the adaptability of the platform. Prototyping along with machine learning optimization will help validate and refine designs ready for application in IoT and other satellite communication systems.</a:t>
            </a:r>
            <a:endParaRPr sz="1600" dirty="0">
              <a:latin typeface="+mj-lt"/>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84"/>
          <p:cNvSpPr txBox="1"/>
          <p:nvPr/>
        </p:nvSpPr>
        <p:spPr>
          <a:xfrm>
            <a:off x="4072466" y="3303027"/>
            <a:ext cx="4072467"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DF2A36"/>
                </a:solidFill>
                <a:latin typeface="Arial"/>
                <a:ea typeface="Arial"/>
                <a:cs typeface="Arial"/>
                <a:sym typeface="Arial"/>
              </a:rPr>
              <a:t>THANK YOU</a:t>
            </a:r>
            <a:endParaRPr sz="4400" b="0" i="0" u="none" strike="noStrike" cap="none">
              <a:solidFill>
                <a:srgbClr val="DF2A36"/>
              </a:solidFill>
              <a:latin typeface="Arial"/>
              <a:ea typeface="Arial"/>
              <a:cs typeface="Arial"/>
              <a:sym typeface="Arial"/>
            </a:endParaRPr>
          </a:p>
        </p:txBody>
      </p:sp>
      <p:pic>
        <p:nvPicPr>
          <p:cNvPr id="351" name="Google Shape;351;p84"/>
          <p:cNvPicPr preferRelativeResize="0"/>
          <p:nvPr/>
        </p:nvPicPr>
        <p:blipFill rotWithShape="1">
          <a:blip r:embed="rId3">
            <a:alphaModFix/>
          </a:blip>
          <a:srcRect l="22326" t="32664" r="11836" b="35101"/>
          <a:stretch/>
        </p:blipFill>
        <p:spPr>
          <a:xfrm>
            <a:off x="262467" y="258234"/>
            <a:ext cx="1504951" cy="423333"/>
          </a:xfrm>
          <a:prstGeom prst="rect">
            <a:avLst/>
          </a:prstGeom>
          <a:noFill/>
          <a:ln>
            <a:noFill/>
          </a:ln>
        </p:spPr>
      </p:pic>
      <p:grpSp>
        <p:nvGrpSpPr>
          <p:cNvPr id="352" name="Google Shape;352;p84"/>
          <p:cNvGrpSpPr/>
          <p:nvPr/>
        </p:nvGrpSpPr>
        <p:grpSpPr>
          <a:xfrm>
            <a:off x="11856720" y="1182857"/>
            <a:ext cx="223520" cy="990718"/>
            <a:chOff x="11856720" y="140636"/>
            <a:chExt cx="223520" cy="990718"/>
          </a:xfrm>
        </p:grpSpPr>
        <p:grpSp>
          <p:nvGrpSpPr>
            <p:cNvPr id="353" name="Google Shape;353;p84"/>
            <p:cNvGrpSpPr/>
            <p:nvPr/>
          </p:nvGrpSpPr>
          <p:grpSpPr>
            <a:xfrm>
              <a:off x="11856720" y="660278"/>
              <a:ext cx="223520" cy="471076"/>
              <a:chOff x="9734551" y="3138055"/>
              <a:chExt cx="2457449" cy="1328450"/>
            </a:xfrm>
          </p:grpSpPr>
          <p:sp>
            <p:nvSpPr>
              <p:cNvPr id="354" name="Google Shape;354;p84"/>
              <p:cNvSpPr/>
              <p:nvPr/>
            </p:nvSpPr>
            <p:spPr>
              <a:xfrm>
                <a:off x="9759949" y="3870759"/>
                <a:ext cx="2432051" cy="595746"/>
              </a:xfrm>
              <a:prstGeom prst="rect">
                <a:avLst/>
              </a:prstGeom>
              <a:solidFill>
                <a:srgbClr val="E12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355" name="Google Shape;355;p84"/>
              <p:cNvSpPr/>
              <p:nvPr/>
            </p:nvSpPr>
            <p:spPr>
              <a:xfrm>
                <a:off x="9734551" y="3138055"/>
                <a:ext cx="2457449" cy="595746"/>
              </a:xfrm>
              <a:prstGeom prst="rect">
                <a:avLst/>
              </a:prstGeom>
              <a:solidFill>
                <a:srgbClr val="51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nvGrpSpPr>
            <p:cNvPr id="356" name="Google Shape;356;p84"/>
            <p:cNvGrpSpPr/>
            <p:nvPr/>
          </p:nvGrpSpPr>
          <p:grpSpPr>
            <a:xfrm>
              <a:off x="11856720" y="140636"/>
              <a:ext cx="223520" cy="471076"/>
              <a:chOff x="9734551" y="3138055"/>
              <a:chExt cx="2457449" cy="1328450"/>
            </a:xfrm>
          </p:grpSpPr>
          <p:sp>
            <p:nvSpPr>
              <p:cNvPr id="357" name="Google Shape;357;p84"/>
              <p:cNvSpPr/>
              <p:nvPr/>
            </p:nvSpPr>
            <p:spPr>
              <a:xfrm>
                <a:off x="9759949" y="3870759"/>
                <a:ext cx="2432051" cy="595746"/>
              </a:xfrm>
              <a:prstGeom prst="rect">
                <a:avLst/>
              </a:prstGeom>
              <a:solidFill>
                <a:srgbClr val="F7A5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358" name="Google Shape;358;p84"/>
              <p:cNvSpPr/>
              <p:nvPr/>
            </p:nvSpPr>
            <p:spPr>
              <a:xfrm>
                <a:off x="9734551" y="3138055"/>
                <a:ext cx="2457449" cy="595746"/>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pic>
        <p:nvPicPr>
          <p:cNvPr id="359" name="Google Shape;359;p84"/>
          <p:cNvPicPr preferRelativeResize="0"/>
          <p:nvPr/>
        </p:nvPicPr>
        <p:blipFill rotWithShape="1">
          <a:blip r:embed="rId4">
            <a:alphaModFix/>
          </a:blip>
          <a:srcRect/>
          <a:stretch/>
        </p:blipFill>
        <p:spPr>
          <a:xfrm>
            <a:off x="7829549" y="2637368"/>
            <a:ext cx="4931834" cy="493183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0"/>
                                        </p:tgtEl>
                                        <p:attrNameLst>
                                          <p:attrName>style.visibility</p:attrName>
                                        </p:attrNameLst>
                                      </p:cBhvr>
                                      <p:to>
                                        <p:strVal val="visible"/>
                                      </p:to>
                                    </p:set>
                                    <p:animEffect transition="in" filter="fade">
                                      <p:cBhvr>
                                        <p:cTn id="7" dur="500"/>
                                        <p:tgtEl>
                                          <p:spTgt spid="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747</TotalTime>
  <Words>992</Words>
  <Application>Microsoft Office PowerPoint</Application>
  <PresentationFormat>Widescreen</PresentationFormat>
  <Paragraphs>152</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Verdana</vt:lpstr>
      <vt:lpstr>Montserrat Medium</vt:lpstr>
      <vt:lpstr>Fira Sans Extra Condensed Medium</vt:lpstr>
      <vt:lpstr>Roboto</vt:lpstr>
      <vt:lpstr>Montserrat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Aisswaria Zacharias</dc:creator>
  <cp:lastModifiedBy>sai YK mahadev</cp:lastModifiedBy>
  <cp:revision>8</cp:revision>
  <dcterms:created xsi:type="dcterms:W3CDTF">2021-01-07T12:40:50Z</dcterms:created>
  <dcterms:modified xsi:type="dcterms:W3CDTF">2024-10-16T04:31:30Z</dcterms:modified>
</cp:coreProperties>
</file>